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1" r:id="rId5"/>
    <p:sldId id="263" r:id="rId6"/>
    <p:sldId id="265" r:id="rId7"/>
    <p:sldId id="267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 algn="l"/>
            <a:r>
              <a:rPr lang="sr-RS" sz="1600" b="1">
                <a:solidFill>
                  <a:srgbClr val="1A1F2E"/>
                </a:solidFill>
              </a:rPr>
              <a:t>Propusnost (zahtevi/sek) pri 500 VU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RPS</c:v>
          </c:tx>
          <c:invertIfNegative val="1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0B3-A546-9B1A-B5DDAE5CA2EF}"/>
              </c:ext>
            </c:extLst>
          </c:dPt>
          <c:dPt>
            <c:idx val="1"/>
            <c:invertIfNegative val="0"/>
            <c:bubble3D val="0"/>
            <c:spPr>
              <a:solidFill>
                <a:srgbClr val="2E8B5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0B3-A546-9B1A-B5DDAE5CA2EF}"/>
              </c:ext>
            </c:extLst>
          </c:dPt>
          <c:dPt>
            <c:idx val="2"/>
            <c:invertIfNegative val="0"/>
            <c:bubble3D val="0"/>
            <c:spPr>
              <a:solidFill>
                <a:srgbClr val="C44E5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0B3-A546-9B1A-B5DDAE5CA2E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1F2E"/>
                    </a:solidFill>
                  </a:defRPr>
                </a:pPr>
                <a:endParaRPr lang="sr-R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REST</c:v>
              </c:pt>
              <c:pt idx="1">
                <c:v>gRPC</c:v>
              </c:pt>
              <c:pt idx="2">
                <c:v>GraphQL</c:v>
              </c:pt>
            </c:strLit>
          </c:cat>
          <c:val>
            <c:numLit>
              <c:formatCode>#,##0</c:formatCode>
              <c:ptCount val="3"/>
              <c:pt idx="0">
                <c:v>17608</c:v>
              </c:pt>
              <c:pt idx="1">
                <c:v>15640</c:v>
              </c:pt>
              <c:pt idx="2">
                <c:v>7273</c:v>
              </c:pt>
            </c:numLit>
          </c:val>
          <c:extLst>
            <c:ext xmlns:c16="http://schemas.microsoft.com/office/drawing/2014/chart" uri="{C3380CC4-5D6E-409C-BE32-E72D297353CC}">
              <c16:uniqueId val="{00000006-50B3-A546-9B1A-B5DDAE5CA2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"/>
        <c:axId val="2"/>
      </c:barChart>
      <c:catAx>
        <c:axId val="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 b="1">
                <a:solidFill>
                  <a:srgbClr val="1A1F2E"/>
                </a:solidFill>
              </a:defRPr>
            </a:pPr>
            <a:endParaRPr lang="sr-R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t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B7C99"/>
                </a:solidFill>
              </a:defRPr>
            </a:pPr>
            <a:endParaRPr lang="sr-R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 algn="l"/>
            <a:r>
              <a:rPr lang="sr-RS" sz="1600" b="1">
                <a:solidFill>
                  <a:srgbClr val="1A1F2E"/>
                </a:solidFill>
              </a:rPr>
              <a:t>Propusnost (zahtevi/sek) pri 500 VU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RPS</c:v>
          </c:tx>
          <c:invertIfNegative val="1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BA7-6741-851D-4FFE6425FEE5}"/>
              </c:ext>
            </c:extLst>
          </c:dPt>
          <c:dPt>
            <c:idx val="1"/>
            <c:invertIfNegative val="0"/>
            <c:bubble3D val="0"/>
            <c:spPr>
              <a:solidFill>
                <a:srgbClr val="2E8B5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BA7-6741-851D-4FFE6425FEE5}"/>
              </c:ext>
            </c:extLst>
          </c:dPt>
          <c:dPt>
            <c:idx val="2"/>
            <c:invertIfNegative val="0"/>
            <c:bubble3D val="0"/>
            <c:spPr>
              <a:solidFill>
                <a:srgbClr val="C44E5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BA7-6741-851D-4FFE6425FEE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1F2E"/>
                    </a:solidFill>
                  </a:defRPr>
                </a:pPr>
                <a:endParaRPr lang="sr-R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REST</c:v>
              </c:pt>
              <c:pt idx="1">
                <c:v>gRPC</c:v>
              </c:pt>
              <c:pt idx="2">
                <c:v>GraphQL</c:v>
              </c:pt>
            </c:strLit>
          </c:cat>
          <c:val>
            <c:numLit>
              <c:formatCode>#,##0</c:formatCode>
              <c:ptCount val="3"/>
              <c:pt idx="0">
                <c:v>4887</c:v>
              </c:pt>
              <c:pt idx="1">
                <c:v>12312</c:v>
              </c:pt>
              <c:pt idx="2">
                <c:v>5711</c:v>
              </c:pt>
            </c:numLit>
          </c:val>
          <c:extLst>
            <c:ext xmlns:c16="http://schemas.microsoft.com/office/drawing/2014/chart" uri="{C3380CC4-5D6E-409C-BE32-E72D297353CC}">
              <c16:uniqueId val="{00000006-1BA7-6741-851D-4FFE6425FE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"/>
        <c:axId val="2"/>
      </c:barChart>
      <c:catAx>
        <c:axId val="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 b="1">
                <a:solidFill>
                  <a:srgbClr val="1A1F2E"/>
                </a:solidFill>
              </a:defRPr>
            </a:pPr>
            <a:endParaRPr lang="sr-R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t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B7C99"/>
                </a:solidFill>
              </a:defRPr>
            </a:pPr>
            <a:endParaRPr lang="sr-R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 algn="l"/>
            <a:r>
              <a:rPr lang="sr-RS" sz="1600" b="1">
                <a:solidFill>
                  <a:srgbClr val="1A1F2E"/>
                </a:solidFill>
              </a:rPr>
              <a:t>Primljeno podataka (MB)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MB</c:v>
          </c:tx>
          <c:invertIfNegative val="1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605-1B44-924F-99635FAD14C3}"/>
              </c:ext>
            </c:extLst>
          </c:dPt>
          <c:dPt>
            <c:idx val="1"/>
            <c:invertIfNegative val="0"/>
            <c:bubble3D val="0"/>
            <c:spPr>
              <a:solidFill>
                <a:srgbClr val="2E8B5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605-1B44-924F-99635FAD14C3}"/>
              </c:ext>
            </c:extLst>
          </c:dPt>
          <c:dPt>
            <c:idx val="2"/>
            <c:invertIfNegative val="0"/>
            <c:bubble3D val="0"/>
            <c:spPr>
              <a:solidFill>
                <a:srgbClr val="C44E5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605-1B44-924F-99635FAD14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1F2E"/>
                    </a:solidFill>
                  </a:defRPr>
                </a:pPr>
                <a:endParaRPr lang="sr-R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REST</c:v>
              </c:pt>
              <c:pt idx="1">
                <c:v>gRPC</c:v>
              </c:pt>
              <c:pt idx="2">
                <c:v>GraphQL</c:v>
              </c:pt>
            </c:strLit>
          </c:cat>
          <c:val>
            <c:numLit>
              <c:formatCode>#,##0.0</c:formatCode>
              <c:ptCount val="3"/>
              <c:pt idx="0">
                <c:v>940.2</c:v>
              </c:pt>
              <c:pt idx="1">
                <c:v>221.3</c:v>
              </c:pt>
              <c:pt idx="2">
                <c:v>120.7</c:v>
              </c:pt>
            </c:numLit>
          </c:val>
          <c:extLst>
            <c:ext xmlns:c16="http://schemas.microsoft.com/office/drawing/2014/chart" uri="{C3380CC4-5D6E-409C-BE32-E72D297353CC}">
              <c16:uniqueId val="{00000006-C605-1B44-924F-99635FAD1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"/>
        <c:axId val="2"/>
      </c:barChart>
      <c:catAx>
        <c:axId val="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 b="1">
                <a:solidFill>
                  <a:srgbClr val="1A1F2E"/>
                </a:solidFill>
              </a:defRPr>
            </a:pPr>
            <a:endParaRPr lang="sr-R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t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B7C99"/>
                </a:solidFill>
              </a:defRPr>
            </a:pPr>
            <a:endParaRPr lang="sr-R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 algn="l"/>
            <a:r>
              <a:rPr lang="sr-RS" sz="1600" b="1">
                <a:solidFill>
                  <a:srgbClr val="1A1F2E"/>
                </a:solidFill>
              </a:rPr>
              <a:t>p95 latencija (ms) pri 500 VU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Scenario A (Write)</c:v>
          </c:tx>
          <c:spPr>
            <a:solidFill>
              <a:srgbClr val="2E8B57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1F2E"/>
                    </a:solidFill>
                  </a:defRPr>
                </a:pPr>
                <a:endParaRPr lang="sr-R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REST</c:v>
              </c:pt>
              <c:pt idx="1">
                <c:v>gRPC</c:v>
              </c:pt>
              <c:pt idx="2">
                <c:v>GraphQL</c:v>
              </c:pt>
            </c:strLit>
          </c:cat>
          <c:val>
            <c:numLit>
              <c:formatCode>#,##0.0</c:formatCode>
              <c:ptCount val="3"/>
              <c:pt idx="0">
                <c:v>38.56</c:v>
              </c:pt>
              <c:pt idx="1">
                <c:v>45.45</c:v>
              </c:pt>
              <c:pt idx="2">
                <c:v>86.12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E0A-1141-93F3-199D97593365}"/>
            </c:ext>
          </c:extLst>
        </c:ser>
        <c:ser>
          <c:idx val="1"/>
          <c:order val="1"/>
          <c:tx>
            <c:v>Scenario B (Read)</c:v>
          </c:tx>
          <c:spPr>
            <a:solidFill>
              <a:srgbClr val="C44E52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1F2E"/>
                    </a:solidFill>
                  </a:defRPr>
                </a:pPr>
                <a:endParaRPr lang="sr-R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REST</c:v>
              </c:pt>
              <c:pt idx="1">
                <c:v>gRPC</c:v>
              </c:pt>
              <c:pt idx="2">
                <c:v>GraphQL</c:v>
              </c:pt>
            </c:strLit>
          </c:cat>
          <c:val>
            <c:numLit>
              <c:formatCode>#,##0.0</c:formatCode>
              <c:ptCount val="3"/>
              <c:pt idx="0">
                <c:v>150.18</c:v>
              </c:pt>
              <c:pt idx="1">
                <c:v>66.55</c:v>
              </c:pt>
              <c:pt idx="2">
                <c:v>97.53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E0A-1141-93F3-199D975933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 b="1">
                <a:solidFill>
                  <a:srgbClr val="1A1F2E"/>
                </a:solidFill>
              </a:defRPr>
            </a:pPr>
            <a:endParaRPr lang="sr-R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B7C99"/>
                </a:solidFill>
              </a:defRPr>
            </a:pPr>
            <a:endParaRPr lang="sr-R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A1F2E"/>
              </a:solidFill>
            </a:defRPr>
          </a:pPr>
          <a:endParaRPr lang="sr-RS"/>
        </a:p>
      </c:txPr>
    </c:legend>
    <c:plotVisOnly val="1"/>
    <c:dispBlanksAs val="zero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v>Stopa grešaka (%)</c:v>
          </c:tx>
          <c:invertIfNegative val="1"/>
          <c:dPt>
            <c:idx val="0"/>
            <c:invertIfNegative val="0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1-B34C-104C-9DA2-370E8EC96FB3}"/>
              </c:ext>
            </c:extLst>
          </c:dPt>
          <c:dPt>
            <c:idx val="1"/>
            <c:invertIfNegative val="0"/>
            <c:bubble3D val="0"/>
            <c:spPr>
              <a:solidFill>
                <a:srgbClr val="2E8B57"/>
              </a:solidFill>
            </c:spPr>
            <c:extLst>
              <c:ext xmlns:c16="http://schemas.microsoft.com/office/drawing/2014/chart" uri="{C3380CC4-5D6E-409C-BE32-E72D297353CC}">
                <c16:uniqueId val="{00000003-B34C-104C-9DA2-370E8EC96FB3}"/>
              </c:ext>
            </c:extLst>
          </c:dPt>
          <c:dPt>
            <c:idx val="2"/>
            <c:invertIfNegative val="0"/>
            <c:bubble3D val="0"/>
            <c:spPr>
              <a:solidFill>
                <a:srgbClr val="C44E52"/>
              </a:solidFill>
            </c:spPr>
            <c:extLst>
              <c:ext xmlns:c16="http://schemas.microsoft.com/office/drawing/2014/chart" uri="{C3380CC4-5D6E-409C-BE32-E72D297353CC}">
                <c16:uniqueId val="{00000005-B34C-104C-9DA2-370E8EC96FB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REST</c:v>
              </c:pt>
              <c:pt idx="1">
                <c:v>gRPC</c:v>
              </c:pt>
              <c:pt idx="2">
                <c:v>GraphQL</c:v>
              </c:pt>
            </c:strLit>
          </c:cat>
          <c:val>
            <c:numLit>
              <c:formatCode>0.0</c:formatCode>
              <c:ptCount val="3"/>
              <c:pt idx="0">
                <c:v>100</c:v>
              </c:pt>
              <c:pt idx="1">
                <c:v>100</c:v>
              </c:pt>
              <c:pt idx="2">
                <c:v>49.5</c:v>
              </c:pt>
            </c:numLit>
          </c:val>
          <c:extLst>
            <c:ext xmlns:c16="http://schemas.microsoft.com/office/drawing/2014/chart" uri="{C3380CC4-5D6E-409C-BE32-E72D297353CC}">
              <c16:uniqueId val="{00000006-B34C-104C-9DA2-370E8EC96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"/>
        <c:axId val="222"/>
      </c:barChart>
      <c:catAx>
        <c:axId val="11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10"/>
          <c:min val="0"/>
        </c:scaling>
        <c:delete val="0"/>
        <c:axPos val="t"/>
        <c:majorGridlines>
          <c:spPr>
            <a:ln w="6350">
              <a:solidFill>
                <a:srgbClr val="E5E9EF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C3D2-4F03-2CA4-D5AA-FC94A15DC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478D60-7DB3-C989-D4C1-883D24E7B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85CEE-6A08-BDD4-5717-E6573FBE7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D2D-9284-1147-B663-D0EB3CE3832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2BA65-519D-42A2-40F5-A02531C8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5C391-EB6E-84D0-ACF1-49C711F4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2692-6663-D445-9A8A-665B9B750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0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8E36-BFFA-7A72-C408-C78AFCBA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A6B2F-052D-79DD-44DA-8F17936D7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E42DE-ACE9-B208-612E-FAD387490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D2D-9284-1147-B663-D0EB3CE3832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248D5-730C-B7B2-B32C-E72CE0593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DBA50-A561-A087-3CEC-DCD86E060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2692-6663-D445-9A8A-665B9B750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4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1AD4-0453-EB4B-4282-CA774DC1A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EAC45-189F-C018-DB20-733A607F3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3C0B7-2329-E13C-D75F-E0DB3BD9F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D2D-9284-1147-B663-D0EB3CE3832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FE6D7-7975-AE5C-8CF0-3ECEDF1F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B1594-EA19-84D6-E939-4EF1DFBC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2692-6663-D445-9A8A-665B9B750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22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EDD2D-2F74-F024-264B-917BA6D66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2D302-EF2E-7B76-1CC3-DB8E560C36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8C85B-CBEB-624A-36EA-B97DECD71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90D11-56B8-FB2F-A7F9-A44C9394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D2D-9284-1147-B663-D0EB3CE3832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949F9-6FFF-F45C-815C-239C48BE3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A94D2-EED2-CBDD-853D-EC471762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2692-6663-D445-9A8A-665B9B750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41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0DF9D-4867-231C-D7EF-7F3D47578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D15CA-46F6-C2AC-E522-BB56D3695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18EF1-1DBC-1A73-536F-04C635973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170932-1834-47E6-ADBE-48CB7CC17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64540-3741-76F2-9F9A-3C58C3F2A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EE6DCF-768A-010F-38EF-FEE01598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D2D-9284-1147-B663-D0EB3CE3832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6B93E8-AD06-9CBB-AFD4-9224259C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E3ADF3-EF25-76A0-9238-B555A737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2692-6663-D445-9A8A-665B9B750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DB2DE-E3AD-B62A-F31A-4521FB374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5A938-9330-6BCD-5118-FFED9D530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D2D-9284-1147-B663-D0EB3CE3832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E48C6A-BB5C-A843-2262-9D8F8CBDC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0E5617-2D7E-AF31-A2E7-1529B4982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2692-6663-D445-9A8A-665B9B750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747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7B327-7D83-8CBF-2EFD-F2A790476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D2D-9284-1147-B663-D0EB3CE3832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F0C1D3-F7A5-0008-F34D-282F7126A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7FD0D-C0E4-4A84-F02B-5AC970388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2692-6663-D445-9A8A-665B9B750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55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4930-C9BB-7B51-4890-8A32E190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70A57-99AF-DFE6-65F9-91FE3FA4A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F470F-DABB-6671-E287-8B6523BB8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50311-80AA-EDE3-48B4-6317161C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D2D-9284-1147-B663-D0EB3CE3832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F2EC4-F8F7-F7BF-F3C8-E935B7201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11BA4-A7B5-7335-B1FE-A0DBBFBB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2692-6663-D445-9A8A-665B9B750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9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C11C0-954B-A927-60BB-409C947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240377-E1B6-DA01-31A6-73C0DAC66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3DB91-24C2-5AE8-0335-EE152DA4C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AD3DE-24DB-259E-909A-512F1ABF2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D2D-9284-1147-B663-D0EB3CE3832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1CEF0-8A86-C2AC-8840-D6C1FAA95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2D86C-1003-6E26-E7CE-85DFD6E6C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2692-6663-D445-9A8A-665B9B750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75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01919-F585-DC16-CB06-12769FA77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83AA4-1870-C60E-97B6-63110F7D6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9B522-F67F-FD53-5A79-EA9FF0AD0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D2D-9284-1147-B663-D0EB3CE3832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45C96-4D6B-47DC-0BD8-2C97BC11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BB197-814C-9C1B-401E-F98E1103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2692-6663-D445-9A8A-665B9B750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65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7228EA-488D-A2DC-0F43-9E6C7A900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111B1-28E6-06F2-C0DC-DBCC4F43C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90E7C-6FF3-79C8-4EE0-AD960224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D2D-9284-1147-B663-D0EB3CE3832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37834-AF30-D476-03C0-558721458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15315-573D-ACB5-7870-35C86D30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2692-6663-D445-9A8A-665B9B750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7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D67DF-5E4D-EBB9-1943-47683B703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563A7-EEEF-F1F7-1FAA-2D81B6331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70E00-C406-A475-AAF0-5E4CC11CB8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0ED2D-9284-1147-B663-D0EB3CE3832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B53EB-D39A-94CB-AF4F-1E798ADD31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15365-D7AA-F593-FB0D-BDFE6B757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692692-6663-D445-9A8A-665B9B750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48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0DBF2B-9BFF-8245-89CC-D57A2A800285}"/>
              </a:ext>
            </a:extLst>
          </p:cNvPr>
          <p:cNvSpPr/>
          <p:nvPr/>
        </p:nvSpPr>
        <p:spPr>
          <a:xfrm>
            <a:off x="762000" y="2286000"/>
            <a:ext cx="50800" cy="2286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EED394-E5C1-8042-B036-C2157FD09D63}"/>
              </a:ext>
            </a:extLst>
          </p:cNvPr>
          <p:cNvSpPr txBox="1"/>
          <p:nvPr/>
        </p:nvSpPr>
        <p:spPr>
          <a:xfrm>
            <a:off x="1016000" y="22606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5B7C99"/>
                </a:solidFill>
                <a:latin typeface="Segoe UI"/>
                <a:cs typeface="Segoe UI"/>
              </a:rPr>
              <a:t>Internet </a:t>
            </a:r>
            <a:r>
              <a:rPr lang="en-US" sz="1400" dirty="0" err="1">
                <a:solidFill>
                  <a:srgbClr val="5B7C99"/>
                </a:solidFill>
                <a:latin typeface="Segoe UI"/>
                <a:cs typeface="Segoe UI"/>
              </a:rPr>
              <a:t>stvari</a:t>
            </a:r>
            <a:r>
              <a:rPr lang="en-US" sz="1400" dirty="0">
                <a:solidFill>
                  <a:srgbClr val="5B7C99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5B7C99"/>
                </a:solidFill>
                <a:latin typeface="Segoe UI"/>
                <a:cs typeface="Segoe UI"/>
              </a:rPr>
              <a:t>i</a:t>
            </a:r>
            <a:r>
              <a:rPr lang="en-US" sz="1400">
                <a:solidFill>
                  <a:srgbClr val="5B7C99"/>
                </a:solidFill>
                <a:latin typeface="Segoe UI"/>
                <a:cs typeface="Segoe UI"/>
              </a:rPr>
              <a:t> servisi</a:t>
            </a:r>
            <a:endParaRPr lang="en-US" sz="1400" dirty="0">
              <a:solidFill>
                <a:srgbClr val="5B7C99"/>
              </a:solidFill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816E0-2169-914C-8B41-371EFC427898}"/>
              </a:ext>
            </a:extLst>
          </p:cNvPr>
          <p:cNvSpPr txBox="1"/>
          <p:nvPr/>
        </p:nvSpPr>
        <p:spPr>
          <a:xfrm>
            <a:off x="1016000" y="2667000"/>
            <a:ext cx="10414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1A1F2E"/>
                </a:solidFill>
                <a:latin typeface="Segoe UI Semibold"/>
                <a:cs typeface="Segoe UI Semibold"/>
              </a:rPr>
              <a:t>Poređenje REST, gRPC i GraphQL
u IoT scenarijima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BE7FAE-0094-E64F-8691-A45D7242B59A}"/>
              </a:ext>
            </a:extLst>
          </p:cNvPr>
          <p:cNvSpPr txBox="1"/>
          <p:nvPr/>
        </p:nvSpPr>
        <p:spPr>
          <a:xfrm>
            <a:off x="1016000" y="41402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2C3E50"/>
                </a:solidFill>
                <a:latin typeface="Segoe UI"/>
                <a:cs typeface="Segoe UI"/>
              </a:rPr>
              <a:t>Eksperimentalna analiza propusnosti, latencije i veličine podataka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37F0ED-176D-024F-8943-3F1B05723091}"/>
              </a:ext>
            </a:extLst>
          </p:cNvPr>
          <p:cNvSpPr txBox="1"/>
          <p:nvPr/>
        </p:nvSpPr>
        <p:spPr>
          <a:xfrm>
            <a:off x="1016000" y="58420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B7C99"/>
                </a:solidFill>
                <a:latin typeface="Segoe UI"/>
                <a:cs typeface="Segoe UI"/>
              </a:rPr>
              <a:t>Aleksa Stanković  ·  19370</a:t>
            </a:r>
          </a:p>
        </p:txBody>
      </p:sp>
    </p:spTree>
    <p:extLst>
      <p:ext uri="{BB962C8B-B14F-4D97-AF65-F5344CB8AC3E}">
        <p14:creationId xmlns:p14="http://schemas.microsoft.com/office/powerpoint/2010/main" val="1876403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FEE40D-AD3D-1244-8CF2-B541CA809333}"/>
              </a:ext>
            </a:extLst>
          </p:cNvPr>
          <p:cNvSpPr/>
          <p:nvPr/>
        </p:nvSpPr>
        <p:spPr>
          <a:xfrm>
            <a:off x="762000" y="762000"/>
            <a:ext cx="50800" cy="4064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E694EF-D1CD-D241-A57E-30D3E2DB9E69}"/>
              </a:ext>
            </a:extLst>
          </p:cNvPr>
          <p:cNvSpPr txBox="1"/>
          <p:nvPr/>
        </p:nvSpPr>
        <p:spPr>
          <a:xfrm>
            <a:off x="965200" y="711200"/>
            <a:ext cx="1041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A1F2E"/>
                </a:solidFill>
                <a:latin typeface="Segoe UI Semibold"/>
                <a:cs typeface="Segoe UI Semibold"/>
              </a:rPr>
              <a:t>Pregled sistema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D40D7-5F92-974D-BD73-C2817F77BCC0}"/>
              </a:ext>
            </a:extLst>
          </p:cNvPr>
          <p:cNvSpPr txBox="1"/>
          <p:nvPr/>
        </p:nvSpPr>
        <p:spPr>
          <a:xfrm>
            <a:off x="965200" y="1270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5B7C99"/>
                </a:solidFill>
                <a:latin typeface="Segoe UI"/>
                <a:cs typeface="Segoe UI"/>
              </a:rPr>
              <a:t>Tri nezavisna API servisa iznad iste PostgreSQL baze IoT senzorskih podataka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9472F9-536F-B747-9983-7F307D482E8E}"/>
              </a:ext>
            </a:extLst>
          </p:cNvPr>
          <p:cNvSpPr/>
          <p:nvPr/>
        </p:nvSpPr>
        <p:spPr>
          <a:xfrm>
            <a:off x="762000" y="1905000"/>
            <a:ext cx="3556000" cy="1651000"/>
          </a:xfrm>
          <a:prstGeom prst="rect">
            <a:avLst/>
          </a:prstGeom>
          <a:solidFill>
            <a:srgbClr val="F4F6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457210-E0EB-B94D-A591-03609415F745}"/>
              </a:ext>
            </a:extLst>
          </p:cNvPr>
          <p:cNvSpPr/>
          <p:nvPr/>
        </p:nvSpPr>
        <p:spPr>
          <a:xfrm>
            <a:off x="762000" y="1905000"/>
            <a:ext cx="3556000" cy="508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D6AF2-2E08-DB41-9289-A96332C929A3}"/>
              </a:ext>
            </a:extLst>
          </p:cNvPr>
          <p:cNvSpPr txBox="1"/>
          <p:nvPr/>
        </p:nvSpPr>
        <p:spPr>
          <a:xfrm>
            <a:off x="1016000" y="2159000"/>
            <a:ext cx="304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1F4E79"/>
                </a:solidFill>
                <a:latin typeface="Segoe UI Semibold"/>
                <a:cs typeface="Segoe UI Semibold"/>
              </a:rPr>
              <a:t>REST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F4AFB-365E-5742-AA51-711B0B25FCD3}"/>
              </a:ext>
            </a:extLst>
          </p:cNvPr>
          <p:cNvSpPr txBox="1"/>
          <p:nvPr/>
        </p:nvSpPr>
        <p:spPr>
          <a:xfrm>
            <a:off x="1016000" y="26035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1F2E"/>
                </a:solidFill>
                <a:latin typeface="Segoe UI"/>
                <a:cs typeface="Segoe UI"/>
              </a:rPr>
              <a:t>ASP.NET Core Web API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61C72-45C4-1146-90A3-AE8EE0A1702B}"/>
              </a:ext>
            </a:extLst>
          </p:cNvPr>
          <p:cNvSpPr txBox="1"/>
          <p:nvPr/>
        </p:nvSpPr>
        <p:spPr>
          <a:xfrm>
            <a:off x="1016000" y="2921000"/>
            <a:ext cx="304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B7C99"/>
                </a:solidFill>
                <a:latin typeface="Segoe UI"/>
                <a:cs typeface="Segoe UI"/>
              </a:rPr>
              <a:t>JSON · HTTP/1.1 · OpenAPI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01322E-AED3-204C-8725-AAEF51005DD4}"/>
              </a:ext>
            </a:extLst>
          </p:cNvPr>
          <p:cNvSpPr/>
          <p:nvPr/>
        </p:nvSpPr>
        <p:spPr>
          <a:xfrm>
            <a:off x="4318000" y="1905000"/>
            <a:ext cx="3556000" cy="1651000"/>
          </a:xfrm>
          <a:prstGeom prst="rect">
            <a:avLst/>
          </a:prstGeom>
          <a:solidFill>
            <a:srgbClr val="F4F6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B651B3-7F70-0D45-8ADB-3AC3176D4D3B}"/>
              </a:ext>
            </a:extLst>
          </p:cNvPr>
          <p:cNvSpPr/>
          <p:nvPr/>
        </p:nvSpPr>
        <p:spPr>
          <a:xfrm>
            <a:off x="4318000" y="1905000"/>
            <a:ext cx="3556000" cy="50800"/>
          </a:xfrm>
          <a:prstGeom prst="rect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ED3ED2-E778-8946-80CD-24F676B373CC}"/>
              </a:ext>
            </a:extLst>
          </p:cNvPr>
          <p:cNvSpPr txBox="1"/>
          <p:nvPr/>
        </p:nvSpPr>
        <p:spPr>
          <a:xfrm>
            <a:off x="4572000" y="2159000"/>
            <a:ext cx="304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2E8B57"/>
                </a:solidFill>
                <a:latin typeface="Segoe UI Semibold"/>
                <a:cs typeface="Segoe UI Semibold"/>
              </a:rPr>
              <a:t>gRPC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EEA839-B1D6-334A-A2FB-EE7C53A354CD}"/>
              </a:ext>
            </a:extLst>
          </p:cNvPr>
          <p:cNvSpPr txBox="1"/>
          <p:nvPr/>
        </p:nvSpPr>
        <p:spPr>
          <a:xfrm>
            <a:off x="4572000" y="26035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1F2E"/>
                </a:solidFill>
                <a:latin typeface="Segoe UI"/>
                <a:cs typeface="Segoe UI"/>
              </a:rPr>
              <a:t>ASP.NET Core + Protobuf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D3825B-B55A-1C40-83E4-772C6A9C7E60}"/>
              </a:ext>
            </a:extLst>
          </p:cNvPr>
          <p:cNvSpPr txBox="1"/>
          <p:nvPr/>
        </p:nvSpPr>
        <p:spPr>
          <a:xfrm>
            <a:off x="4572000" y="2921000"/>
            <a:ext cx="304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B7C99"/>
                </a:solidFill>
                <a:latin typeface="Segoe UI"/>
                <a:cs typeface="Segoe UI"/>
              </a:rPr>
              <a:t>Binarni format · HTTP/2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72C036-C08E-AF4B-A016-F3D53ABA3903}"/>
              </a:ext>
            </a:extLst>
          </p:cNvPr>
          <p:cNvSpPr/>
          <p:nvPr/>
        </p:nvSpPr>
        <p:spPr>
          <a:xfrm>
            <a:off x="7874000" y="1905000"/>
            <a:ext cx="3556000" cy="1651000"/>
          </a:xfrm>
          <a:prstGeom prst="rect">
            <a:avLst/>
          </a:prstGeom>
          <a:solidFill>
            <a:srgbClr val="F4F6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9BC4E3-C112-714B-B375-AFF45818D868}"/>
              </a:ext>
            </a:extLst>
          </p:cNvPr>
          <p:cNvSpPr/>
          <p:nvPr/>
        </p:nvSpPr>
        <p:spPr>
          <a:xfrm>
            <a:off x="7874000" y="1905000"/>
            <a:ext cx="3556000" cy="50800"/>
          </a:xfrm>
          <a:prstGeom prst="rect">
            <a:avLst/>
          </a:prstGeom>
          <a:solidFill>
            <a:srgbClr val="C44E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079988-144D-1743-898C-37B89966CA17}"/>
              </a:ext>
            </a:extLst>
          </p:cNvPr>
          <p:cNvSpPr txBox="1"/>
          <p:nvPr/>
        </p:nvSpPr>
        <p:spPr>
          <a:xfrm>
            <a:off x="8128000" y="2159000"/>
            <a:ext cx="304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C44E52"/>
                </a:solidFill>
                <a:latin typeface="Segoe UI Semibold"/>
                <a:cs typeface="Segoe UI Semibold"/>
              </a:rPr>
              <a:t>GraphQL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64DBF6-8F05-1D4D-A108-C903BD4DA46E}"/>
              </a:ext>
            </a:extLst>
          </p:cNvPr>
          <p:cNvSpPr txBox="1"/>
          <p:nvPr/>
        </p:nvSpPr>
        <p:spPr>
          <a:xfrm>
            <a:off x="8128000" y="26035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1F2E"/>
                </a:solidFill>
                <a:latin typeface="Segoe UI"/>
                <a:cs typeface="Segoe UI"/>
              </a:rPr>
              <a:t>Apollo Server (Node.js)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B8B7DE-6256-F041-ABD9-F445C48369E4}"/>
              </a:ext>
            </a:extLst>
          </p:cNvPr>
          <p:cNvSpPr txBox="1"/>
          <p:nvPr/>
        </p:nvSpPr>
        <p:spPr>
          <a:xfrm>
            <a:off x="8128000" y="2921000"/>
            <a:ext cx="304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B7C99"/>
                </a:solidFill>
                <a:latin typeface="Segoe UI"/>
                <a:cs typeface="Segoe UI"/>
              </a:rPr>
              <a:t>Selekcija polja · JSON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F2995A-589A-FD41-861B-73094C7C24C4}"/>
              </a:ext>
            </a:extLst>
          </p:cNvPr>
          <p:cNvSpPr txBox="1"/>
          <p:nvPr/>
        </p:nvSpPr>
        <p:spPr>
          <a:xfrm>
            <a:off x="762000" y="3937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1F2E"/>
                </a:solidFill>
                <a:latin typeface="Segoe UI Semibold"/>
                <a:cs typeface="Segoe UI Semibold"/>
              </a:rPr>
              <a:t>Tri scenarija testiranja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B05A491-9F0D-4C48-BC44-B30667D1496A}"/>
              </a:ext>
            </a:extLst>
          </p:cNvPr>
          <p:cNvSpPr/>
          <p:nvPr/>
        </p:nvSpPr>
        <p:spPr>
          <a:xfrm>
            <a:off x="762000" y="4381500"/>
            <a:ext cx="457200" cy="457200"/>
          </a:xfrm>
          <a:prstGeom prst="ellipse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 Semibold"/>
                <a:cs typeface="Segoe UI Semibold"/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6FEAB3-0A00-AA49-8073-1411442D29A3}"/>
              </a:ext>
            </a:extLst>
          </p:cNvPr>
          <p:cNvSpPr txBox="1"/>
          <p:nvPr/>
        </p:nvSpPr>
        <p:spPr>
          <a:xfrm>
            <a:off x="1371600" y="43815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1F2E"/>
                </a:solidFill>
                <a:latin typeface="Segoe UI Semibold"/>
                <a:cs typeface="Segoe UI Semibold"/>
              </a:rPr>
              <a:t>Upis podataka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50E4B2-77D3-344B-A437-D3C84CE781F1}"/>
              </a:ext>
            </a:extLst>
          </p:cNvPr>
          <p:cNvSpPr txBox="1"/>
          <p:nvPr/>
        </p:nvSpPr>
        <p:spPr>
          <a:xfrm>
            <a:off x="1371600" y="4660900"/>
            <a:ext cx="2921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5B7C99"/>
                </a:solidFill>
                <a:latin typeface="Segoe UI"/>
                <a:cs typeface="Segoe UI"/>
              </a:rPr>
              <a:t>Kontinuirano slanje merenja sa senzora — single insert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BA2673C-AEC6-FB4D-8E4D-814E4BE974D9}"/>
              </a:ext>
            </a:extLst>
          </p:cNvPr>
          <p:cNvSpPr/>
          <p:nvPr/>
        </p:nvSpPr>
        <p:spPr>
          <a:xfrm>
            <a:off x="4318000" y="4381500"/>
            <a:ext cx="457200" cy="457200"/>
          </a:xfrm>
          <a:prstGeom prst="ellipse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 Semibold"/>
                <a:cs typeface="Segoe UI Semibold"/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D46513-FE60-8144-833F-18C97D81C2EF}"/>
              </a:ext>
            </a:extLst>
          </p:cNvPr>
          <p:cNvSpPr txBox="1"/>
          <p:nvPr/>
        </p:nvSpPr>
        <p:spPr>
          <a:xfrm>
            <a:off x="4927600" y="43815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1F2E"/>
                </a:solidFill>
                <a:latin typeface="Segoe UI Semibold"/>
                <a:cs typeface="Segoe UI Semibold"/>
              </a:rPr>
              <a:t>Selektivno čitanje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BAE93F-4E19-D248-9566-5740230ECBEE}"/>
              </a:ext>
            </a:extLst>
          </p:cNvPr>
          <p:cNvSpPr txBox="1"/>
          <p:nvPr/>
        </p:nvSpPr>
        <p:spPr>
          <a:xfrm>
            <a:off x="4927600" y="4660900"/>
            <a:ext cx="2921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5B7C99"/>
                </a:solidFill>
                <a:latin typeface="Segoe UI"/>
                <a:cs typeface="Segoe UI"/>
              </a:rPr>
              <a:t>Dohvat poslednjih 10 očitavanja sa podskupom polja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BFA9EB8-6F4F-A746-BCFE-B344D02F2B46}"/>
              </a:ext>
            </a:extLst>
          </p:cNvPr>
          <p:cNvSpPr/>
          <p:nvPr/>
        </p:nvSpPr>
        <p:spPr>
          <a:xfrm>
            <a:off x="7874000" y="4381500"/>
            <a:ext cx="457200" cy="457200"/>
          </a:xfrm>
          <a:prstGeom prst="ellipse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 Semibold"/>
                <a:cs typeface="Segoe UI Semibold"/>
              </a:rPr>
              <a:t>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818831-930D-0F49-8208-06528E31AA3B}"/>
              </a:ext>
            </a:extLst>
          </p:cNvPr>
          <p:cNvSpPr txBox="1"/>
          <p:nvPr/>
        </p:nvSpPr>
        <p:spPr>
          <a:xfrm>
            <a:off x="8483600" y="4381500"/>
            <a:ext cx="2921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 err="1">
                <a:solidFill>
                  <a:srgbClr val="1A1F2E"/>
                </a:solidFill>
                <a:latin typeface="Segoe UI Semibold"/>
                <a:cs typeface="Segoe UI Semibold"/>
              </a:rPr>
              <a:t>Agregacija</a:t>
            </a:r>
            <a:endParaRPr lang="en-US" sz="1400" b="1" dirty="0">
              <a:solidFill>
                <a:srgbClr val="1A1F2E"/>
              </a:solidFill>
              <a:latin typeface="Segoe UI Semibold"/>
              <a:cs typeface="Segoe UI Semibold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2398E3-743C-0342-BC4F-C03E47A75D70}"/>
              </a:ext>
            </a:extLst>
          </p:cNvPr>
          <p:cNvSpPr txBox="1"/>
          <p:nvPr/>
        </p:nvSpPr>
        <p:spPr>
          <a:xfrm>
            <a:off x="8483600" y="4660900"/>
            <a:ext cx="292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dirty="0" err="1">
                <a:solidFill>
                  <a:srgbClr val="5B7C99"/>
                </a:solidFill>
                <a:latin typeface="Segoe UI"/>
                <a:cs typeface="Segoe UI"/>
              </a:rPr>
              <a:t>Upiti</a:t>
            </a:r>
            <a:r>
              <a:rPr lang="en-US" sz="1100" dirty="0">
                <a:solidFill>
                  <a:srgbClr val="5B7C99"/>
                </a:solidFill>
                <a:latin typeface="Segoe UI"/>
                <a:cs typeface="Segoe UI"/>
              </a:rPr>
              <a:t> </a:t>
            </a:r>
            <a:r>
              <a:rPr lang="en-US" sz="1100" dirty="0" err="1">
                <a:solidFill>
                  <a:srgbClr val="5B7C99"/>
                </a:solidFill>
                <a:latin typeface="Segoe UI"/>
                <a:cs typeface="Segoe UI"/>
              </a:rPr>
              <a:t>visokog</a:t>
            </a:r>
            <a:r>
              <a:rPr lang="en-US" sz="1100" dirty="0">
                <a:solidFill>
                  <a:srgbClr val="5B7C99"/>
                </a:solidFill>
                <a:latin typeface="Segoe UI"/>
                <a:cs typeface="Segoe UI"/>
              </a:rPr>
              <a:t> </a:t>
            </a:r>
            <a:r>
              <a:rPr lang="en-US" sz="1100" dirty="0" err="1">
                <a:solidFill>
                  <a:srgbClr val="5B7C99"/>
                </a:solidFill>
                <a:latin typeface="Segoe UI"/>
                <a:cs typeface="Segoe UI"/>
              </a:rPr>
              <a:t>opterećenja</a:t>
            </a:r>
            <a:endParaRPr lang="en-US" sz="1100" dirty="0">
              <a:solidFill>
                <a:srgbClr val="5B7C99"/>
              </a:solidFill>
              <a:latin typeface="Segoe UI"/>
              <a:cs typeface="Segoe U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D496CB-9C0C-5A41-8072-87116F4C29DF}"/>
              </a:ext>
            </a:extLst>
          </p:cNvPr>
          <p:cNvSpPr txBox="1"/>
          <p:nvPr/>
        </p:nvSpPr>
        <p:spPr>
          <a:xfrm>
            <a:off x="762000" y="6096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7A8B99"/>
                </a:solidFill>
                <a:latin typeface="Segoe UI"/>
                <a:cs typeface="Segoe UI"/>
              </a:rPr>
              <a:t>Infrastruktura: Docker Compose · PostgreSQL · k6 · Prometheus · Grafana · cAdvisor</a:t>
            </a:r>
          </a:p>
        </p:txBody>
      </p:sp>
    </p:spTree>
    <p:extLst>
      <p:ext uri="{BB962C8B-B14F-4D97-AF65-F5344CB8AC3E}">
        <p14:creationId xmlns:p14="http://schemas.microsoft.com/office/powerpoint/2010/main" val="1713233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45DE2F-9A03-564F-BA75-B9F5D02E12FF}"/>
              </a:ext>
            </a:extLst>
          </p:cNvPr>
          <p:cNvSpPr/>
          <p:nvPr/>
        </p:nvSpPr>
        <p:spPr>
          <a:xfrm>
            <a:off x="762000" y="762000"/>
            <a:ext cx="50800" cy="4064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4FF3B6-00F1-0947-9F1A-861978BB0AB8}"/>
              </a:ext>
            </a:extLst>
          </p:cNvPr>
          <p:cNvSpPr txBox="1"/>
          <p:nvPr/>
        </p:nvSpPr>
        <p:spPr>
          <a:xfrm>
            <a:off x="965200" y="711200"/>
            <a:ext cx="1041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1A1F2E"/>
                </a:solidFill>
                <a:latin typeface="Segoe UI Semibold"/>
                <a:cs typeface="Segoe UI Semibold"/>
              </a:rPr>
              <a:t>Metodologija</a:t>
            </a:r>
            <a:r>
              <a:rPr lang="en-US" sz="2800" b="1" dirty="0">
                <a:solidFill>
                  <a:srgbClr val="1A1F2E"/>
                </a:solidFill>
                <a:latin typeface="Segoe UI Semibold"/>
                <a:cs typeface="Segoe UI Semibold"/>
              </a:rPr>
              <a:t> </a:t>
            </a:r>
            <a:r>
              <a:rPr lang="en-US" sz="2800" b="1" dirty="0" err="1">
                <a:solidFill>
                  <a:srgbClr val="1A1F2E"/>
                </a:solidFill>
                <a:latin typeface="Segoe UI Semibold"/>
                <a:cs typeface="Segoe UI Semibold"/>
              </a:rPr>
              <a:t>testiranja</a:t>
            </a:r>
            <a:endParaRPr lang="en-US" sz="2800" b="1" dirty="0">
              <a:solidFill>
                <a:srgbClr val="1A1F2E"/>
              </a:solidFill>
              <a:latin typeface="Segoe UI Semibold"/>
              <a:cs typeface="Segoe UI 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C68259-A66F-2541-ABC2-1E04C2962155}"/>
              </a:ext>
            </a:extLst>
          </p:cNvPr>
          <p:cNvSpPr txBox="1"/>
          <p:nvPr/>
        </p:nvSpPr>
        <p:spPr>
          <a:xfrm>
            <a:off x="965200" y="1270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5B7C99"/>
                </a:solidFill>
                <a:latin typeface="Segoe UI"/>
                <a:cs typeface="Segoe UI"/>
              </a:rPr>
              <a:t>k6 alat · 3 nivoa opterećenja · 27 test konfiguracija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940B0-E4BB-D241-8CE2-E557FAC665B8}"/>
              </a:ext>
            </a:extLst>
          </p:cNvPr>
          <p:cNvSpPr/>
          <p:nvPr/>
        </p:nvSpPr>
        <p:spPr>
          <a:xfrm>
            <a:off x="762000" y="1905000"/>
            <a:ext cx="3556000" cy="1397000"/>
          </a:xfrm>
          <a:prstGeom prst="rect">
            <a:avLst/>
          </a:prstGeom>
          <a:solidFill>
            <a:srgbClr val="F4F6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E758BA-F539-654F-B1A0-F3609CC32C00}"/>
              </a:ext>
            </a:extLst>
          </p:cNvPr>
          <p:cNvSpPr txBox="1"/>
          <p:nvPr/>
        </p:nvSpPr>
        <p:spPr>
          <a:xfrm>
            <a:off x="1016000" y="20320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800" b="1">
                <a:solidFill>
                  <a:srgbClr val="5B7C99"/>
                </a:solidFill>
                <a:latin typeface="Segoe UI Semibold"/>
                <a:cs typeface="Segoe UI Semibold"/>
              </a:rPr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D48BFF-F1B6-0A4B-817C-C4DBF8B86257}"/>
              </a:ext>
            </a:extLst>
          </p:cNvPr>
          <p:cNvSpPr txBox="1"/>
          <p:nvPr/>
        </p:nvSpPr>
        <p:spPr>
          <a:xfrm>
            <a:off x="1016000" y="2730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B7C99"/>
                </a:solidFill>
                <a:latin typeface="Segoe UI"/>
                <a:cs typeface="Segoe UI"/>
              </a:rPr>
              <a:t>virtualnih korisnika (VU)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F9B779-49B5-5E4F-AD4A-A38E98E8CC33}"/>
              </a:ext>
            </a:extLst>
          </p:cNvPr>
          <p:cNvSpPr txBox="1"/>
          <p:nvPr/>
        </p:nvSpPr>
        <p:spPr>
          <a:xfrm>
            <a:off x="1016000" y="29591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A1F2E"/>
                </a:solidFill>
                <a:latin typeface="Segoe UI"/>
                <a:cs typeface="Segoe UI"/>
              </a:rPr>
              <a:t>Nizak nivo  ·  20–30s trajanje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8494D0-DA0E-9A4D-A8DD-4A4C2783F4D5}"/>
              </a:ext>
            </a:extLst>
          </p:cNvPr>
          <p:cNvSpPr/>
          <p:nvPr/>
        </p:nvSpPr>
        <p:spPr>
          <a:xfrm>
            <a:off x="4318000" y="1905000"/>
            <a:ext cx="3556000" cy="1397000"/>
          </a:xfrm>
          <a:prstGeom prst="rect">
            <a:avLst/>
          </a:prstGeom>
          <a:solidFill>
            <a:srgbClr val="F4F6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1331FA-519B-FF4D-9EDE-D3346C9E0494}"/>
              </a:ext>
            </a:extLst>
          </p:cNvPr>
          <p:cNvSpPr txBox="1"/>
          <p:nvPr/>
        </p:nvSpPr>
        <p:spPr>
          <a:xfrm>
            <a:off x="4572000" y="20320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800" b="1">
                <a:solidFill>
                  <a:srgbClr val="1F4E79"/>
                </a:solidFill>
                <a:latin typeface="Segoe UI Semibold"/>
                <a:cs typeface="Segoe UI Semibold"/>
              </a:rPr>
              <a:t>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6F2D4D-D3EB-4D40-9BA7-7531E8DCDC45}"/>
              </a:ext>
            </a:extLst>
          </p:cNvPr>
          <p:cNvSpPr txBox="1"/>
          <p:nvPr/>
        </p:nvSpPr>
        <p:spPr>
          <a:xfrm>
            <a:off x="4572000" y="2730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B7C99"/>
                </a:solidFill>
                <a:latin typeface="Segoe UI"/>
                <a:cs typeface="Segoe UI"/>
              </a:rPr>
              <a:t>virtualnih korisnika (VU)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B5152-B642-E940-9C4A-E948B7CD99DD}"/>
              </a:ext>
            </a:extLst>
          </p:cNvPr>
          <p:cNvSpPr txBox="1"/>
          <p:nvPr/>
        </p:nvSpPr>
        <p:spPr>
          <a:xfrm>
            <a:off x="4572000" y="29591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A1F2E"/>
                </a:solidFill>
                <a:latin typeface="Segoe UI"/>
                <a:cs typeface="Segoe UI"/>
              </a:rPr>
              <a:t>Srednji nivo  ·  20–30s trajanje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4A4C34-5ACF-1E44-BB31-49E862CAF1D1}"/>
              </a:ext>
            </a:extLst>
          </p:cNvPr>
          <p:cNvSpPr/>
          <p:nvPr/>
        </p:nvSpPr>
        <p:spPr>
          <a:xfrm>
            <a:off x="7874000" y="1905000"/>
            <a:ext cx="3556000" cy="1397000"/>
          </a:xfrm>
          <a:prstGeom prst="rect">
            <a:avLst/>
          </a:prstGeom>
          <a:solidFill>
            <a:srgbClr val="F4F6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2E027F-42B7-9B49-84F7-CEAFF085FE15}"/>
              </a:ext>
            </a:extLst>
          </p:cNvPr>
          <p:cNvSpPr txBox="1"/>
          <p:nvPr/>
        </p:nvSpPr>
        <p:spPr>
          <a:xfrm>
            <a:off x="8128000" y="20320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800" b="1">
                <a:solidFill>
                  <a:srgbClr val="C44E52"/>
                </a:solidFill>
                <a:latin typeface="Segoe UI Semibold"/>
                <a:cs typeface="Segoe UI Semibold"/>
              </a:rPr>
              <a:t>500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78EC15-2850-1E4A-9CF3-B4BF10A64B34}"/>
              </a:ext>
            </a:extLst>
          </p:cNvPr>
          <p:cNvSpPr txBox="1"/>
          <p:nvPr/>
        </p:nvSpPr>
        <p:spPr>
          <a:xfrm>
            <a:off x="8128000" y="2730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B7C99"/>
                </a:solidFill>
                <a:latin typeface="Segoe UI"/>
                <a:cs typeface="Segoe UI"/>
              </a:rPr>
              <a:t>virtualnih korisnika (VU)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65ACE4-47BE-A740-9FAF-369AC305E823}"/>
              </a:ext>
            </a:extLst>
          </p:cNvPr>
          <p:cNvSpPr txBox="1"/>
          <p:nvPr/>
        </p:nvSpPr>
        <p:spPr>
          <a:xfrm>
            <a:off x="8128000" y="29591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A1F2E"/>
                </a:solidFill>
                <a:latin typeface="Segoe UI"/>
                <a:cs typeface="Segoe UI"/>
              </a:rPr>
              <a:t>Visok nivo  ·  20–30s trajanje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914EB5-A911-2842-9827-D8713166C357}"/>
              </a:ext>
            </a:extLst>
          </p:cNvPr>
          <p:cNvSpPr txBox="1"/>
          <p:nvPr/>
        </p:nvSpPr>
        <p:spPr>
          <a:xfrm>
            <a:off x="762000" y="37465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1F2E"/>
                </a:solidFill>
                <a:latin typeface="Segoe UI Semibold"/>
                <a:cs typeface="Segoe UI Semibold"/>
              </a:rPr>
              <a:t>Mereni pragovi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3A82AD-7A48-EF48-8C32-FD46D32DBB18}"/>
              </a:ext>
            </a:extLst>
          </p:cNvPr>
          <p:cNvSpPr txBox="1"/>
          <p:nvPr/>
        </p:nvSpPr>
        <p:spPr>
          <a:xfrm>
            <a:off x="762000" y="4064000"/>
            <a:ext cx="5334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2C3E50"/>
                </a:solidFill>
                <a:latin typeface="Segoe UI"/>
                <a:cs typeface="Segoe UI"/>
              </a:rPr>
              <a:t>•  http_req_duration  —  latencija (avg, p90, p95)
•  http_req_failed  —  stopa grešaka
•  iterations/s  —  propusnost (RPS)
•  data_received / data_sent  —  mrežni saobraćaj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500800-EF75-6D4F-AC78-3C58C584106B}"/>
              </a:ext>
            </a:extLst>
          </p:cNvPr>
          <p:cNvSpPr txBox="1"/>
          <p:nvPr/>
        </p:nvSpPr>
        <p:spPr>
          <a:xfrm>
            <a:off x="6350000" y="37465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1F2E"/>
                </a:solidFill>
                <a:latin typeface="Segoe UI Semibold"/>
                <a:cs typeface="Segoe UI Semibold"/>
              </a:rPr>
              <a:t>Kriterijumi prihvata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951E67-2D3A-B643-865C-CA68864D88B0}"/>
              </a:ext>
            </a:extLst>
          </p:cNvPr>
          <p:cNvSpPr txBox="1"/>
          <p:nvPr/>
        </p:nvSpPr>
        <p:spPr>
          <a:xfrm>
            <a:off x="6350000" y="4064000"/>
            <a:ext cx="5080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2C3E50"/>
                </a:solidFill>
                <a:latin typeface="Segoe UI"/>
                <a:cs typeface="Segoe UI"/>
              </a:rPr>
              <a:t>•  p(95) latencije &lt; 2000 ms
•  stopa grešaka &lt; 1%
•  uspešnost &gt; 99%
•  isti hardver i mreža za sva tri protokola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C930C3-8D10-904D-9B8D-EDC69B272BEC}"/>
              </a:ext>
            </a:extLst>
          </p:cNvPr>
          <p:cNvSpPr txBox="1"/>
          <p:nvPr/>
        </p:nvSpPr>
        <p:spPr>
          <a:xfrm>
            <a:off x="762000" y="6096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7A8B99"/>
                </a:solidFill>
                <a:latin typeface="Segoe UI"/>
                <a:cs typeface="Segoe UI"/>
              </a:rPr>
              <a:t>3 scenarija × 3 protokola × 3 nivoa opterećenja = 27 test konfiguracija</a:t>
            </a:r>
          </a:p>
        </p:txBody>
      </p:sp>
    </p:spTree>
    <p:extLst>
      <p:ext uri="{BB962C8B-B14F-4D97-AF65-F5344CB8AC3E}">
        <p14:creationId xmlns:p14="http://schemas.microsoft.com/office/powerpoint/2010/main" val="1845444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0330A6-1424-3B45-9075-94DE3ABAD880}"/>
              </a:ext>
            </a:extLst>
          </p:cNvPr>
          <p:cNvSpPr/>
          <p:nvPr/>
        </p:nvSpPr>
        <p:spPr>
          <a:xfrm>
            <a:off x="762000" y="762000"/>
            <a:ext cx="50800" cy="406400"/>
          </a:xfrm>
          <a:prstGeom prst="rect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7A8D3-FF7A-DC42-9C93-B18C95337ECC}"/>
              </a:ext>
            </a:extLst>
          </p:cNvPr>
          <p:cNvSpPr txBox="1"/>
          <p:nvPr/>
        </p:nvSpPr>
        <p:spPr>
          <a:xfrm>
            <a:off x="965200" y="7112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A1F2E"/>
                </a:solidFill>
                <a:latin typeface="Segoe UI Semibold"/>
                <a:cs typeface="Segoe UI Semibold"/>
              </a:rPr>
              <a:t>Scenario A — Upis podataka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E1392-0B8A-EB4C-A1F6-4AD1EE42A6F2}"/>
              </a:ext>
            </a:extLst>
          </p:cNvPr>
          <p:cNvSpPr txBox="1"/>
          <p:nvPr/>
        </p:nvSpPr>
        <p:spPr>
          <a:xfrm>
            <a:off x="965200" y="12700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5B7C99"/>
                </a:solidFill>
                <a:latin typeface="Segoe UI"/>
                <a:cs typeface="Segoe UI"/>
              </a:rPr>
              <a:t>Propusnost (RPS) pri 500 virtualnih korisnika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4C2BCB-2441-FA4F-916D-42226E0676F2}"/>
              </a:ext>
            </a:extLst>
          </p:cNvPr>
          <p:cNvSpPr/>
          <p:nvPr/>
        </p:nvSpPr>
        <p:spPr>
          <a:xfrm>
            <a:off x="7874000" y="1841500"/>
            <a:ext cx="3556000" cy="4064000"/>
          </a:xfrm>
          <a:prstGeom prst="rect">
            <a:avLst/>
          </a:prstGeom>
          <a:solidFill>
            <a:srgbClr val="F4F6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497FB3-051A-FC41-96DC-745337BA1499}"/>
              </a:ext>
            </a:extLst>
          </p:cNvPr>
          <p:cNvSpPr txBox="1"/>
          <p:nvPr/>
        </p:nvSpPr>
        <p:spPr>
          <a:xfrm>
            <a:off x="8128000" y="20955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E8B57"/>
                </a:solidFill>
                <a:latin typeface="Segoe UI Semibold"/>
                <a:cs typeface="Segoe UI Semibold"/>
              </a:rPr>
              <a:t>Ključni nalaz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2C850-1619-BE41-8684-50AC01D09894}"/>
              </a:ext>
            </a:extLst>
          </p:cNvPr>
          <p:cNvSpPr txBox="1"/>
          <p:nvPr/>
        </p:nvSpPr>
        <p:spPr>
          <a:xfrm>
            <a:off x="8128000" y="2413000"/>
            <a:ext cx="3048000" cy="330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REST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postiže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najveću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propusnost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(17.6k RPS)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sa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najmanjom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latencijom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.
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GraphQL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je 2.4×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sporiji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zbog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dodatnog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parsiranja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upita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i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resolver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sloja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.
Za write-heavy IoT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operacije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REST je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pragmatičan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izbor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.</a:t>
            </a:r>
          </a:p>
        </p:txBody>
      </p:sp>
      <p:graphicFrame>
        <p:nvGraphicFramePr>
          <p:cNvPr id="201" name="Chart 1"/>
          <p:cNvGraphicFramePr/>
          <p:nvPr/>
        </p:nvGraphicFramePr>
        <p:xfrm>
          <a:off x="762000" y="1778000"/>
          <a:ext cx="685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44426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E3DD61-D255-4045-9E7B-8C02C2D7A34D}"/>
              </a:ext>
            </a:extLst>
          </p:cNvPr>
          <p:cNvSpPr/>
          <p:nvPr/>
        </p:nvSpPr>
        <p:spPr>
          <a:xfrm>
            <a:off x="762000" y="762000"/>
            <a:ext cx="50800" cy="406400"/>
          </a:xfrm>
          <a:prstGeom prst="rect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DCC0E-9CF3-7149-942C-2082F91A28B0}"/>
              </a:ext>
            </a:extLst>
          </p:cNvPr>
          <p:cNvSpPr txBox="1"/>
          <p:nvPr/>
        </p:nvSpPr>
        <p:spPr>
          <a:xfrm>
            <a:off x="965200" y="7112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A1F2E"/>
                </a:solidFill>
                <a:latin typeface="Segoe UI Semibold"/>
                <a:cs typeface="Segoe UI Semibold"/>
              </a:rPr>
              <a:t>Scenario B — Selektivno čitanje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9CCB5-03AF-A843-A07C-ECDD9189EEB0}"/>
              </a:ext>
            </a:extLst>
          </p:cNvPr>
          <p:cNvSpPr txBox="1"/>
          <p:nvPr/>
        </p:nvSpPr>
        <p:spPr>
          <a:xfrm>
            <a:off x="965200" y="12700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5B7C99"/>
                </a:solidFill>
                <a:latin typeface="Segoe UI"/>
                <a:cs typeface="Segoe UI"/>
              </a:rPr>
              <a:t>Propusnost (RPS) pri 500 VU — dohvat podskupa polja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3BFAE2-3277-C445-B0B6-F900477C1C01}"/>
              </a:ext>
            </a:extLst>
          </p:cNvPr>
          <p:cNvSpPr/>
          <p:nvPr/>
        </p:nvSpPr>
        <p:spPr>
          <a:xfrm>
            <a:off x="7874000" y="1841500"/>
            <a:ext cx="3556000" cy="4064000"/>
          </a:xfrm>
          <a:prstGeom prst="rect">
            <a:avLst/>
          </a:prstGeom>
          <a:solidFill>
            <a:srgbClr val="F4F6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596A88-C6A6-6948-87CA-9A2E43051D90}"/>
              </a:ext>
            </a:extLst>
          </p:cNvPr>
          <p:cNvSpPr txBox="1"/>
          <p:nvPr/>
        </p:nvSpPr>
        <p:spPr>
          <a:xfrm>
            <a:off x="8128000" y="20955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E8B57"/>
                </a:solidFill>
                <a:latin typeface="Segoe UI Semibold"/>
                <a:cs typeface="Segoe UI Semibold"/>
              </a:rPr>
              <a:t>Ključni nalaz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1ACEFC-965F-1D49-AB89-AF070D30E037}"/>
              </a:ext>
            </a:extLst>
          </p:cNvPr>
          <p:cNvSpPr txBox="1"/>
          <p:nvPr/>
        </p:nvSpPr>
        <p:spPr>
          <a:xfrm>
            <a:off x="8128000" y="2413000"/>
            <a:ext cx="3048000" cy="224676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gRPC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postiže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2.5×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veću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propusnost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od REST-a (12.3k vs 4.9k RPS).
REST ne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pati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od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inferiornog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protokola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—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gubi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zbog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over-fetching-a (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vraća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sva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polja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).
</a:t>
            </a:r>
            <a:r>
              <a:rPr lang="en-US" sz="1400" dirty="0" err="1"/>
              <a:t>gRPC</a:t>
            </a:r>
            <a:r>
              <a:rPr lang="en-US" sz="1400" dirty="0"/>
              <a:t> </a:t>
            </a:r>
            <a:r>
              <a:rPr lang="en-US" sz="1400" dirty="0" err="1"/>
              <a:t>nema</a:t>
            </a:r>
            <a:r>
              <a:rPr lang="en-US" sz="1400" dirty="0"/>
              <a:t> </a:t>
            </a:r>
            <a:r>
              <a:rPr lang="en-US" sz="1400" dirty="0" err="1"/>
              <a:t>ugrađen</a:t>
            </a:r>
            <a:r>
              <a:rPr lang="en-US" sz="1400" dirty="0"/>
              <a:t> </a:t>
            </a:r>
            <a:r>
              <a:rPr lang="en-US" sz="1400" dirty="0" err="1"/>
              <a:t>koncept</a:t>
            </a:r>
            <a:r>
              <a:rPr lang="en-US" sz="1400" dirty="0"/>
              <a:t> </a:t>
            </a:r>
            <a:r>
              <a:rPr lang="en-US" sz="1400" dirty="0" err="1"/>
              <a:t>fleksibilne</a:t>
            </a:r>
            <a:r>
              <a:rPr lang="en-US" sz="1400" dirty="0"/>
              <a:t> </a:t>
            </a:r>
            <a:r>
              <a:rPr lang="en-US" sz="1400" dirty="0" err="1"/>
              <a:t>selekcije</a:t>
            </a:r>
            <a:r>
              <a:rPr lang="en-US" sz="1400" dirty="0"/>
              <a:t> </a:t>
            </a:r>
            <a:r>
              <a:rPr lang="en-US" sz="1400" dirty="0" err="1"/>
              <a:t>polja</a:t>
            </a:r>
            <a:r>
              <a:rPr lang="en-US" sz="1400" dirty="0"/>
              <a:t> </a:t>
            </a:r>
            <a:r>
              <a:rPr lang="en-US" sz="1400" dirty="0" err="1"/>
              <a:t>kao</a:t>
            </a:r>
            <a:r>
              <a:rPr lang="en-US" sz="1400" dirty="0"/>
              <a:t> </a:t>
            </a:r>
            <a:r>
              <a:rPr lang="en-US" sz="1400" dirty="0" err="1"/>
              <a:t>GraphQL</a:t>
            </a:r>
            <a:endParaRPr lang="en-US" sz="1400" dirty="0">
              <a:solidFill>
                <a:srgbClr val="1A1F2E"/>
              </a:solidFill>
              <a:latin typeface="Segoe UI"/>
              <a:cs typeface="Segoe UI"/>
            </a:endParaRPr>
          </a:p>
        </p:txBody>
      </p:sp>
      <p:graphicFrame>
        <p:nvGraphicFramePr>
          <p:cNvPr id="201" name="Chart 1"/>
          <p:cNvGraphicFramePr/>
          <p:nvPr/>
        </p:nvGraphicFramePr>
        <p:xfrm>
          <a:off x="762000" y="1778000"/>
          <a:ext cx="685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21761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804A70-CB09-F24A-AE12-07E79D1D9731}"/>
              </a:ext>
            </a:extLst>
          </p:cNvPr>
          <p:cNvSpPr/>
          <p:nvPr/>
        </p:nvSpPr>
        <p:spPr>
          <a:xfrm>
            <a:off x="762000" y="762000"/>
            <a:ext cx="50800" cy="406400"/>
          </a:xfrm>
          <a:prstGeom prst="rect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AE2BA5-5EDA-4948-85B5-4DB989C011C1}"/>
              </a:ext>
            </a:extLst>
          </p:cNvPr>
          <p:cNvSpPr txBox="1"/>
          <p:nvPr/>
        </p:nvSpPr>
        <p:spPr>
          <a:xfrm>
            <a:off x="965200" y="7112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A1F2E"/>
                </a:solidFill>
                <a:latin typeface="Segoe UI Semibold"/>
                <a:cs typeface="Segoe UI Semibold"/>
              </a:rPr>
              <a:t>Veličina podataka — JSON vs Protobuf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343B5-153D-9D49-9917-1565DE93F3F4}"/>
              </a:ext>
            </a:extLst>
          </p:cNvPr>
          <p:cNvSpPr txBox="1"/>
          <p:nvPr/>
        </p:nvSpPr>
        <p:spPr>
          <a:xfrm>
            <a:off x="965200" y="12700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5B7C99"/>
                </a:solidFill>
                <a:latin typeface="Segoe UI"/>
                <a:cs typeface="Segoe UI"/>
              </a:rPr>
              <a:t>Ukupno primljeno (MB) u Scenariju B pri 100 VU — over-fetching efekat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E0ED7C-B687-9946-9465-953924BE80EA}"/>
              </a:ext>
            </a:extLst>
          </p:cNvPr>
          <p:cNvSpPr/>
          <p:nvPr/>
        </p:nvSpPr>
        <p:spPr>
          <a:xfrm>
            <a:off x="7874000" y="1841500"/>
            <a:ext cx="3556000" cy="4064000"/>
          </a:xfrm>
          <a:prstGeom prst="rect">
            <a:avLst/>
          </a:prstGeom>
          <a:solidFill>
            <a:srgbClr val="F4F6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1F432D-4E6C-9049-862E-D6B6ADC1A6E8}"/>
              </a:ext>
            </a:extLst>
          </p:cNvPr>
          <p:cNvSpPr txBox="1"/>
          <p:nvPr/>
        </p:nvSpPr>
        <p:spPr>
          <a:xfrm>
            <a:off x="8128000" y="20955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E8B57"/>
                </a:solidFill>
                <a:latin typeface="Segoe UI Semibold"/>
                <a:cs typeface="Segoe UI Semibold"/>
              </a:rPr>
              <a:t>Over-fetching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0E01C9-FF1A-F144-8DBF-58C0B3D7803E}"/>
              </a:ext>
            </a:extLst>
          </p:cNvPr>
          <p:cNvSpPr txBox="1"/>
          <p:nvPr/>
        </p:nvSpPr>
        <p:spPr>
          <a:xfrm>
            <a:off x="8128000" y="2413000"/>
            <a:ext cx="3048000" cy="267765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REST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prenosi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7.8×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više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bajtova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od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GraphQL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-a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i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4.3×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više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od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gRPC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-a.
REST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vraća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kompletan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dokument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—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klijent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ne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može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da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odabere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 </a:t>
            </a:r>
            <a:r>
              <a:rPr lang="en-US" sz="1400" dirty="0" err="1">
                <a:solidFill>
                  <a:srgbClr val="1A1F2E"/>
                </a:solidFill>
                <a:latin typeface="Segoe UI"/>
                <a:cs typeface="Segoe UI"/>
              </a:rPr>
              <a:t>polja</a:t>
            </a:r>
            <a:r>
              <a:rPr lang="en-US" sz="1400" dirty="0">
                <a:solidFill>
                  <a:srgbClr val="1A1F2E"/>
                </a:solidFill>
                <a:latin typeface="Segoe UI"/>
                <a:cs typeface="Segoe UI"/>
              </a:rPr>
              <a:t>.
</a:t>
            </a:r>
            <a:r>
              <a:rPr lang="en-US" sz="1400" i="1" dirty="0" err="1"/>
              <a:t>GraphQL</a:t>
            </a:r>
            <a:r>
              <a:rPr lang="en-US" sz="1400" i="1" dirty="0"/>
              <a:t> </a:t>
            </a:r>
            <a:r>
              <a:rPr lang="en-US" sz="1400" i="1" dirty="0" err="1"/>
              <a:t>selektuje</a:t>
            </a:r>
            <a:r>
              <a:rPr lang="en-US" sz="1400" i="1" dirty="0"/>
              <a:t> </a:t>
            </a:r>
            <a:r>
              <a:rPr lang="en-US" sz="1400" i="1" dirty="0" err="1"/>
              <a:t>samo</a:t>
            </a:r>
            <a:r>
              <a:rPr lang="en-US" sz="1400" i="1" dirty="0"/>
              <a:t> </a:t>
            </a:r>
            <a:r>
              <a:rPr lang="en-US" sz="1400" i="1" dirty="0" err="1"/>
              <a:t>tražena</a:t>
            </a:r>
            <a:r>
              <a:rPr lang="en-US" sz="1400" i="1" dirty="0"/>
              <a:t> </a:t>
            </a:r>
            <a:r>
              <a:rPr lang="en-US" sz="1400" i="1" dirty="0" err="1"/>
              <a:t>polja</a:t>
            </a:r>
            <a:r>
              <a:rPr lang="en-US" sz="1400" i="1" dirty="0"/>
              <a:t>. </a:t>
            </a:r>
            <a:r>
              <a:rPr lang="en-US" sz="1400" i="1" dirty="0" err="1"/>
              <a:t>gRPC</a:t>
            </a:r>
            <a:r>
              <a:rPr lang="en-US" sz="1400" i="1" dirty="0"/>
              <a:t> </a:t>
            </a:r>
            <a:r>
              <a:rPr lang="en-US" sz="1400" i="1" dirty="0" err="1"/>
              <a:t>vraća</a:t>
            </a:r>
            <a:r>
              <a:rPr lang="en-US" sz="1400" i="1" dirty="0"/>
              <a:t> </a:t>
            </a:r>
            <a:r>
              <a:rPr lang="en-US" sz="1400" i="1" dirty="0" err="1"/>
              <a:t>kompletan</a:t>
            </a:r>
            <a:r>
              <a:rPr lang="en-US" sz="1400" i="1" dirty="0"/>
              <a:t> message — </a:t>
            </a:r>
            <a:r>
              <a:rPr lang="en-US" sz="1400" i="1" dirty="0" err="1"/>
              <a:t>manji</a:t>
            </a:r>
            <a:r>
              <a:rPr lang="en-US" sz="1400" i="1" dirty="0"/>
              <a:t> od REST-a </a:t>
            </a:r>
            <a:r>
              <a:rPr lang="en-US" sz="1400" i="1" dirty="0" err="1"/>
              <a:t>zbog</a:t>
            </a:r>
            <a:r>
              <a:rPr lang="en-US" sz="1400" i="1" dirty="0"/>
              <a:t> </a:t>
            </a:r>
            <a:r>
              <a:rPr lang="en-US" sz="1400" i="1" dirty="0" err="1"/>
              <a:t>binarnog</a:t>
            </a:r>
            <a:r>
              <a:rPr lang="en-US" sz="1400" i="1" dirty="0"/>
              <a:t> </a:t>
            </a:r>
            <a:r>
              <a:rPr lang="en-US" sz="1400" i="1" dirty="0" err="1"/>
              <a:t>protokola</a:t>
            </a:r>
            <a:r>
              <a:rPr lang="en-US" sz="1400" i="1" dirty="0"/>
              <a:t>, </a:t>
            </a:r>
            <a:r>
              <a:rPr lang="en-US" sz="1400" i="1" dirty="0" err="1"/>
              <a:t>ali</a:t>
            </a:r>
            <a:r>
              <a:rPr lang="en-US" sz="1400" i="1" dirty="0"/>
              <a:t> </a:t>
            </a:r>
            <a:r>
              <a:rPr lang="en-US" sz="1400" i="1" dirty="0" err="1"/>
              <a:t>veći</a:t>
            </a:r>
            <a:r>
              <a:rPr lang="en-US" sz="1400" i="1" dirty="0"/>
              <a:t> od </a:t>
            </a:r>
            <a:r>
              <a:rPr lang="en-US" sz="1400" i="1" dirty="0" err="1"/>
              <a:t>GraphQL</a:t>
            </a:r>
            <a:r>
              <a:rPr lang="en-US" sz="1400" i="1" dirty="0"/>
              <a:t>-a </a:t>
            </a:r>
            <a:r>
              <a:rPr lang="en-US" sz="1400" i="1" dirty="0" err="1"/>
              <a:t>zbog</a:t>
            </a:r>
            <a:r>
              <a:rPr lang="en-US" sz="1400" i="1" dirty="0"/>
              <a:t> </a:t>
            </a:r>
            <a:r>
              <a:rPr lang="en-US" sz="1400" i="1" dirty="0" err="1"/>
              <a:t>nemogućnosti</a:t>
            </a:r>
            <a:r>
              <a:rPr lang="en-US" sz="1400" i="1" dirty="0"/>
              <a:t> </a:t>
            </a:r>
            <a:r>
              <a:rPr lang="en-US" sz="1400" i="1" dirty="0" err="1"/>
              <a:t>parcijalne</a:t>
            </a:r>
            <a:r>
              <a:rPr lang="en-US" sz="1400" i="1" dirty="0"/>
              <a:t> </a:t>
            </a:r>
            <a:r>
              <a:rPr lang="en-US" sz="1400" i="1" dirty="0" err="1"/>
              <a:t>selekcije</a:t>
            </a:r>
            <a:r>
              <a:rPr lang="en-US" sz="1400" i="1" dirty="0"/>
              <a:t>.</a:t>
            </a:r>
            <a:endParaRPr lang="en-US" sz="1400" dirty="0">
              <a:solidFill>
                <a:srgbClr val="1A1F2E"/>
              </a:solidFill>
              <a:latin typeface="Segoe UI"/>
              <a:cs typeface="Segoe UI"/>
            </a:endParaRPr>
          </a:p>
        </p:txBody>
      </p:sp>
      <p:graphicFrame>
        <p:nvGraphicFramePr>
          <p:cNvPr id="201" name="Chart 1"/>
          <p:cNvGraphicFramePr/>
          <p:nvPr/>
        </p:nvGraphicFramePr>
        <p:xfrm>
          <a:off x="762000" y="1778000"/>
          <a:ext cx="685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94234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BB421F-3ADB-724A-A772-4E2AD977319E}"/>
              </a:ext>
            </a:extLst>
          </p:cNvPr>
          <p:cNvSpPr/>
          <p:nvPr/>
        </p:nvSpPr>
        <p:spPr>
          <a:xfrm>
            <a:off x="762000" y="762000"/>
            <a:ext cx="50800" cy="406400"/>
          </a:xfrm>
          <a:prstGeom prst="rect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53D12-CC31-844E-A956-806338271181}"/>
              </a:ext>
            </a:extLst>
          </p:cNvPr>
          <p:cNvSpPr txBox="1"/>
          <p:nvPr/>
        </p:nvSpPr>
        <p:spPr>
          <a:xfrm>
            <a:off x="965200" y="7112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A1F2E"/>
                </a:solidFill>
                <a:latin typeface="Segoe UI Semibold"/>
                <a:cs typeface="Segoe UI Semibold"/>
              </a:rPr>
              <a:t>p95 latencija — Scenario A vs 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442A2B-3CA6-8F41-86E3-52933E1A9CB6}"/>
              </a:ext>
            </a:extLst>
          </p:cNvPr>
          <p:cNvSpPr txBox="1"/>
          <p:nvPr/>
        </p:nvSpPr>
        <p:spPr>
          <a:xfrm>
            <a:off x="965200" y="12700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5B7C99"/>
                </a:solidFill>
                <a:latin typeface="Segoe UI"/>
                <a:cs typeface="Segoe UI"/>
              </a:rPr>
              <a:t>Vreme odziva (ms) pri 500 VU — 95. percentil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275B57-4741-CD4A-8683-A07A34244335}"/>
              </a:ext>
            </a:extLst>
          </p:cNvPr>
          <p:cNvSpPr/>
          <p:nvPr/>
        </p:nvSpPr>
        <p:spPr>
          <a:xfrm>
            <a:off x="7874000" y="1841500"/>
            <a:ext cx="3556000" cy="4064000"/>
          </a:xfrm>
          <a:prstGeom prst="rect">
            <a:avLst/>
          </a:prstGeom>
          <a:solidFill>
            <a:srgbClr val="F4F6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870E0-77B3-2C43-A0A6-8BE2603EF553}"/>
              </a:ext>
            </a:extLst>
          </p:cNvPr>
          <p:cNvSpPr txBox="1"/>
          <p:nvPr/>
        </p:nvSpPr>
        <p:spPr>
          <a:xfrm>
            <a:off x="8128000" y="20955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E8B57"/>
                </a:solidFill>
                <a:latin typeface="Segoe UI Semibold"/>
                <a:cs typeface="Segoe UI Semibold"/>
              </a:rPr>
              <a:t>Obrazac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BBA175-D23A-0F42-99AF-E87AEA8011C3}"/>
              </a:ext>
            </a:extLst>
          </p:cNvPr>
          <p:cNvSpPr txBox="1"/>
          <p:nvPr/>
        </p:nvSpPr>
        <p:spPr>
          <a:xfrm>
            <a:off x="8128000" y="2413000"/>
            <a:ext cx="3048000" cy="330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1F2E"/>
                </a:solidFill>
                <a:latin typeface="Segoe UI"/>
                <a:cs typeface="Segoe UI"/>
              </a:rPr>
              <a:t>Scenario A (write): REST najbrži, GraphQL 2× sporiji zbog resolver sloja.
Scenario B (read): REST najsporiji (150ms) zbog velikog payload-a, gRPC 2.3× brži.
Svi zahtevi uspešni — sistem stabilan u oba scenarija.</a:t>
            </a:r>
          </a:p>
        </p:txBody>
      </p:sp>
      <p:graphicFrame>
        <p:nvGraphicFramePr>
          <p:cNvPr id="201" name="Chart 1"/>
          <p:cNvGraphicFramePr/>
          <p:nvPr/>
        </p:nvGraphicFramePr>
        <p:xfrm>
          <a:off x="762000" y="1778000"/>
          <a:ext cx="685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08760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D0EF6B-AED7-3146-8FFF-809846FEE189}"/>
              </a:ext>
            </a:extLst>
          </p:cNvPr>
          <p:cNvSpPr/>
          <p:nvPr/>
        </p:nvSpPr>
        <p:spPr>
          <a:xfrm>
            <a:off x="762000" y="762000"/>
            <a:ext cx="50800" cy="406400"/>
          </a:xfrm>
          <a:prstGeom prst="rect">
            <a:avLst/>
          </a:prstGeom>
          <a:solidFill>
            <a:srgbClr val="C44E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F7CFC-D4B0-6F4A-9109-5A1A4CB75A11}"/>
              </a:ext>
            </a:extLst>
          </p:cNvPr>
          <p:cNvSpPr txBox="1"/>
          <p:nvPr/>
        </p:nvSpPr>
        <p:spPr>
          <a:xfrm>
            <a:off x="965200" y="711200"/>
            <a:ext cx="1016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1A1F2E"/>
                </a:solidFill>
                <a:latin typeface="Segoe UI Semibold"/>
                <a:cs typeface="Segoe UI Semibold"/>
              </a:rPr>
              <a:t>Scenario C — Heavy Aggregation: </a:t>
            </a:r>
            <a:r>
              <a:rPr lang="en-US" sz="2800" b="1" dirty="0" err="1">
                <a:solidFill>
                  <a:srgbClr val="1A1F2E"/>
                </a:solidFill>
                <a:latin typeface="Segoe UI Semibold"/>
                <a:cs typeface="Segoe UI Semibold"/>
              </a:rPr>
              <a:t>zasićenje</a:t>
            </a:r>
            <a:r>
              <a:rPr lang="en-US" sz="2800" b="1" dirty="0">
                <a:solidFill>
                  <a:srgbClr val="1A1F2E"/>
                </a:solidFill>
                <a:latin typeface="Segoe UI Semibold"/>
                <a:cs typeface="Segoe UI Semibold"/>
              </a:rPr>
              <a:t> </a:t>
            </a:r>
            <a:r>
              <a:rPr lang="en-US" sz="2800" b="1" dirty="0" err="1">
                <a:solidFill>
                  <a:srgbClr val="1A1F2E"/>
                </a:solidFill>
                <a:latin typeface="Segoe UI Semibold"/>
                <a:cs typeface="Segoe UI Semibold"/>
              </a:rPr>
              <a:t>servera</a:t>
            </a:r>
            <a:endParaRPr lang="en-US" sz="2800" b="1" dirty="0">
              <a:solidFill>
                <a:srgbClr val="1A1F2E"/>
              </a:solidFill>
              <a:latin typeface="Segoe UI Semibold"/>
              <a:cs typeface="Segoe UI 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392BF-FC16-4946-BE82-5A510C8C73E2}"/>
              </a:ext>
            </a:extLst>
          </p:cNvPr>
          <p:cNvSpPr txBox="1"/>
          <p:nvPr/>
        </p:nvSpPr>
        <p:spPr>
          <a:xfrm>
            <a:off x="965200" y="12700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5B7C99"/>
                </a:solidFill>
                <a:latin typeface="Segoe UI"/>
                <a:cs typeface="Segoe UI"/>
              </a:rPr>
              <a:t>Stopa grešaka (%) pri 500 VU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BB8755-CA37-5C43-B9B6-A4419A48EFC5}"/>
              </a:ext>
            </a:extLst>
          </p:cNvPr>
          <p:cNvSpPr/>
          <p:nvPr/>
        </p:nvSpPr>
        <p:spPr>
          <a:xfrm>
            <a:off x="7874000" y="1841500"/>
            <a:ext cx="3556000" cy="4064000"/>
          </a:xfrm>
          <a:prstGeom prst="rect">
            <a:avLst/>
          </a:prstGeom>
          <a:solidFill>
            <a:srgbClr val="F4F6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B1E354-CEB2-0F4D-85F3-E300E17F092E}"/>
              </a:ext>
            </a:extLst>
          </p:cNvPr>
          <p:cNvSpPr txBox="1"/>
          <p:nvPr/>
        </p:nvSpPr>
        <p:spPr>
          <a:xfrm>
            <a:off x="8128000" y="20955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C44E52"/>
                </a:solidFill>
                <a:latin typeface="Segoe UI Semibold"/>
                <a:cs typeface="Segoe UI Semibold"/>
              </a:rPr>
              <a:t>Tumačenje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936C0C-37A9-EA40-87C5-A4E1701E45C0}"/>
              </a:ext>
            </a:extLst>
          </p:cNvPr>
          <p:cNvSpPr txBox="1"/>
          <p:nvPr/>
        </p:nvSpPr>
        <p:spPr>
          <a:xfrm>
            <a:off x="8128000" y="2413000"/>
            <a:ext cx="3048000" cy="330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1F2E"/>
                </a:solidFill>
                <a:latin typeface="Segoe UI"/>
                <a:cs typeface="Segoe UI"/>
              </a:rPr>
              <a:t>Sva tri protokola su pala — uzrok nije protokol, već zasićenje PostgreSQL baze.
PG CPU dostiže 1000–1180% (10–12 jezgara), dok servisni kontejneri padaju na 3–25%.
GraphQL ima nižu stopu grešaka jer odbacuje zahteve na nivou resolvera pre nego što stignu do baze.</a:t>
            </a:r>
          </a:p>
        </p:txBody>
      </p:sp>
      <p:graphicFrame>
        <p:nvGraphicFramePr>
          <p:cNvPr id="201" name="Chart 1"/>
          <p:cNvGraphicFramePr/>
          <p:nvPr/>
        </p:nvGraphicFramePr>
        <p:xfrm>
          <a:off x="762000" y="1778000"/>
          <a:ext cx="685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47280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8DCD62-5E3D-3241-AF6B-043CB2C7C50C}"/>
              </a:ext>
            </a:extLst>
          </p:cNvPr>
          <p:cNvSpPr/>
          <p:nvPr/>
        </p:nvSpPr>
        <p:spPr>
          <a:xfrm>
            <a:off x="762000" y="762000"/>
            <a:ext cx="50800" cy="4064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4F37BE-6666-4E42-826D-EEA2FA442CFB}"/>
              </a:ext>
            </a:extLst>
          </p:cNvPr>
          <p:cNvSpPr txBox="1"/>
          <p:nvPr/>
        </p:nvSpPr>
        <p:spPr>
          <a:xfrm>
            <a:off x="965200" y="7112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1A1F2E"/>
                </a:solidFill>
                <a:latin typeface="Segoe UI Semibold"/>
                <a:cs typeface="Segoe UI Semibold"/>
              </a:rPr>
              <a:t>Zaključak</a:t>
            </a:r>
            <a:r>
              <a:rPr lang="en-US" sz="2800" b="1" dirty="0">
                <a:solidFill>
                  <a:srgbClr val="1A1F2E"/>
                </a:solidFill>
                <a:latin typeface="Segoe UI Semibold"/>
                <a:cs typeface="Segoe UI Semibold"/>
              </a:rPr>
              <a:t> — </a:t>
            </a:r>
            <a:r>
              <a:rPr lang="en-US" sz="2800" b="1" dirty="0" err="1">
                <a:solidFill>
                  <a:srgbClr val="1A1F2E"/>
                </a:solidFill>
                <a:latin typeface="Segoe UI Semibold"/>
                <a:cs typeface="Segoe UI Semibold"/>
              </a:rPr>
              <a:t>preporuke</a:t>
            </a:r>
            <a:r>
              <a:rPr lang="en-US" sz="2800" b="1" dirty="0">
                <a:solidFill>
                  <a:srgbClr val="1A1F2E"/>
                </a:solidFill>
                <a:latin typeface="Segoe UI Semibold"/>
                <a:cs typeface="Segoe UI Semibold"/>
              </a:rPr>
              <a:t> po </a:t>
            </a:r>
            <a:r>
              <a:rPr lang="en-US" sz="2800" b="1" dirty="0" err="1">
                <a:solidFill>
                  <a:srgbClr val="1A1F2E"/>
                </a:solidFill>
                <a:latin typeface="Segoe UI Semibold"/>
                <a:cs typeface="Segoe UI Semibold"/>
              </a:rPr>
              <a:t>tipu</a:t>
            </a:r>
            <a:r>
              <a:rPr lang="en-US" sz="2800" b="1" dirty="0">
                <a:solidFill>
                  <a:srgbClr val="1A1F2E"/>
                </a:solidFill>
                <a:latin typeface="Segoe UI Semibold"/>
                <a:cs typeface="Segoe UI Semibold"/>
              </a:rPr>
              <a:t> </a:t>
            </a:r>
            <a:r>
              <a:rPr lang="en-US" sz="2800" b="1" dirty="0" err="1">
                <a:solidFill>
                  <a:srgbClr val="1A1F2E"/>
                </a:solidFill>
                <a:latin typeface="Segoe UI Semibold"/>
                <a:cs typeface="Segoe UI Semibold"/>
              </a:rPr>
              <a:t>radnog</a:t>
            </a:r>
            <a:r>
              <a:rPr lang="en-US" sz="2800" b="1" dirty="0">
                <a:solidFill>
                  <a:srgbClr val="1A1F2E"/>
                </a:solidFill>
                <a:latin typeface="Segoe UI Semibold"/>
                <a:cs typeface="Segoe UI Semibold"/>
              </a:rPr>
              <a:t> </a:t>
            </a:r>
            <a:r>
              <a:rPr lang="en-US" sz="2800" b="1" dirty="0" err="1">
                <a:solidFill>
                  <a:srgbClr val="1A1F2E"/>
                </a:solidFill>
                <a:latin typeface="Segoe UI Semibold"/>
                <a:cs typeface="Segoe UI Semibold"/>
              </a:rPr>
              <a:t>opterećenja</a:t>
            </a:r>
            <a:endParaRPr lang="en-US" sz="2800" b="1" dirty="0">
              <a:solidFill>
                <a:srgbClr val="1A1F2E"/>
              </a:solidFill>
              <a:latin typeface="Segoe UI Semibold"/>
              <a:cs typeface="Segoe UI 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780424-698D-854B-8B15-2A033ED314C5}"/>
              </a:ext>
            </a:extLst>
          </p:cNvPr>
          <p:cNvSpPr txBox="1"/>
          <p:nvPr/>
        </p:nvSpPr>
        <p:spPr>
          <a:xfrm>
            <a:off x="965200" y="12700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5B7C99"/>
                </a:solidFill>
                <a:latin typeface="Segoe UI"/>
                <a:cs typeface="Segoe UI"/>
              </a:rPr>
              <a:t>Ne postoji jedinstveno najbolje rešenje — izbor zavisi od scenarija.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F335EF-550A-1242-90BB-F14F73B85236}"/>
              </a:ext>
            </a:extLst>
          </p:cNvPr>
          <p:cNvSpPr/>
          <p:nvPr/>
        </p:nvSpPr>
        <p:spPr>
          <a:xfrm>
            <a:off x="762000" y="1841500"/>
            <a:ext cx="3302000" cy="635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807049-01CD-944D-9526-A5715CEA7F04}"/>
              </a:ext>
            </a:extLst>
          </p:cNvPr>
          <p:cNvSpPr/>
          <p:nvPr/>
        </p:nvSpPr>
        <p:spPr>
          <a:xfrm>
            <a:off x="762000" y="1905000"/>
            <a:ext cx="3302000" cy="3556000"/>
          </a:xfrm>
          <a:prstGeom prst="rect">
            <a:avLst/>
          </a:prstGeom>
          <a:solidFill>
            <a:srgbClr val="F8F9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2ECB2-0948-1848-8435-7B20D2F9F470}"/>
              </a:ext>
            </a:extLst>
          </p:cNvPr>
          <p:cNvSpPr txBox="1"/>
          <p:nvPr/>
        </p:nvSpPr>
        <p:spPr>
          <a:xfrm>
            <a:off x="990600" y="2133600"/>
            <a:ext cx="279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1F4E79"/>
                </a:solidFill>
                <a:latin typeface="Segoe UI Semibold"/>
                <a:cs typeface="Segoe UI Semibold"/>
              </a:rPr>
              <a:t>WRITE-HEAVY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66CC1E-7538-7949-8D11-78BBD1D0DA63}"/>
              </a:ext>
            </a:extLst>
          </p:cNvPr>
          <p:cNvSpPr txBox="1"/>
          <p:nvPr/>
        </p:nvSpPr>
        <p:spPr>
          <a:xfrm>
            <a:off x="990600" y="2387600"/>
            <a:ext cx="279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1F2E"/>
                </a:solidFill>
                <a:latin typeface="Segoe UI Semibold"/>
                <a:cs typeface="Segoe UI Semibold"/>
              </a:rPr>
              <a:t>REST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B8D385-F276-3E43-BEC0-A57FD0E45AFE}"/>
              </a:ext>
            </a:extLst>
          </p:cNvPr>
          <p:cNvSpPr txBox="1"/>
          <p:nvPr/>
        </p:nvSpPr>
        <p:spPr>
          <a:xfrm>
            <a:off x="990600" y="28956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B7C99"/>
                </a:solidFill>
                <a:latin typeface="Segoe UI"/>
                <a:cs typeface="Segoe UI"/>
              </a:rPr>
              <a:t>Pojedinačno upisivanje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7E818B-E83B-034F-910F-BF6BBDD68774}"/>
              </a:ext>
            </a:extLst>
          </p:cNvPr>
          <p:cNvSpPr/>
          <p:nvPr/>
        </p:nvSpPr>
        <p:spPr>
          <a:xfrm>
            <a:off x="990600" y="3276600"/>
            <a:ext cx="508000" cy="254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6CC66-3E32-3A48-B580-90FDD8C54EF9}"/>
              </a:ext>
            </a:extLst>
          </p:cNvPr>
          <p:cNvSpPr txBox="1"/>
          <p:nvPr/>
        </p:nvSpPr>
        <p:spPr>
          <a:xfrm>
            <a:off x="990600" y="3454400"/>
            <a:ext cx="28448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1F2E"/>
                </a:solidFill>
                <a:latin typeface="Segoe UI"/>
                <a:cs typeface="Segoe UI"/>
              </a:rPr>
              <a:t>Najveća propusnost (17.6k RPS) i najniža latencija.
Mali odgovori — gubitak u veličini payload-a je u apsolutnim brojevima zanemarljiv.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CAD5C2-AEBF-C34C-8CC3-0C0884ADF403}"/>
              </a:ext>
            </a:extLst>
          </p:cNvPr>
          <p:cNvSpPr/>
          <p:nvPr/>
        </p:nvSpPr>
        <p:spPr>
          <a:xfrm>
            <a:off x="4445000" y="1841500"/>
            <a:ext cx="3302000" cy="63500"/>
          </a:xfrm>
          <a:prstGeom prst="rect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3E150F-C99F-A64C-9673-5D6BAD189DA2}"/>
              </a:ext>
            </a:extLst>
          </p:cNvPr>
          <p:cNvSpPr/>
          <p:nvPr/>
        </p:nvSpPr>
        <p:spPr>
          <a:xfrm>
            <a:off x="4445000" y="1905000"/>
            <a:ext cx="3302000" cy="3556000"/>
          </a:xfrm>
          <a:prstGeom prst="rect">
            <a:avLst/>
          </a:prstGeom>
          <a:solidFill>
            <a:srgbClr val="F8F9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0F1743-E76E-9442-A5DC-18659D823812}"/>
              </a:ext>
            </a:extLst>
          </p:cNvPr>
          <p:cNvSpPr txBox="1"/>
          <p:nvPr/>
        </p:nvSpPr>
        <p:spPr>
          <a:xfrm>
            <a:off x="4673600" y="2133600"/>
            <a:ext cx="279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2E8B57"/>
                </a:solidFill>
                <a:latin typeface="Segoe UI Semibold"/>
                <a:cs typeface="Segoe UI Semibold"/>
              </a:rPr>
              <a:t>READ-HEAVY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2961C9-DC41-044E-9B64-F67C25C3FE9D}"/>
              </a:ext>
            </a:extLst>
          </p:cNvPr>
          <p:cNvSpPr txBox="1"/>
          <p:nvPr/>
        </p:nvSpPr>
        <p:spPr>
          <a:xfrm>
            <a:off x="4673600" y="2387600"/>
            <a:ext cx="279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1F2E"/>
                </a:solidFill>
                <a:latin typeface="Segoe UI Semibold"/>
                <a:cs typeface="Segoe UI Semibold"/>
              </a:rPr>
              <a:t>gRPC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A200E3-FC0E-EB4F-A851-6E5BC4E198EE}"/>
              </a:ext>
            </a:extLst>
          </p:cNvPr>
          <p:cNvSpPr txBox="1"/>
          <p:nvPr/>
        </p:nvSpPr>
        <p:spPr>
          <a:xfrm>
            <a:off x="4673600" y="28956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B7C99"/>
                </a:solidFill>
                <a:latin typeface="Segoe UI"/>
                <a:cs typeface="Segoe UI"/>
              </a:rPr>
              <a:t>Selektivno čitanje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35AA2F-73D6-9C4C-BBE1-35190C82F5ED}"/>
              </a:ext>
            </a:extLst>
          </p:cNvPr>
          <p:cNvSpPr/>
          <p:nvPr/>
        </p:nvSpPr>
        <p:spPr>
          <a:xfrm>
            <a:off x="4673600" y="3276600"/>
            <a:ext cx="508000" cy="25400"/>
          </a:xfrm>
          <a:prstGeom prst="rect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78BC3C-6079-214D-AA45-8DD455844900}"/>
              </a:ext>
            </a:extLst>
          </p:cNvPr>
          <p:cNvSpPr txBox="1"/>
          <p:nvPr/>
        </p:nvSpPr>
        <p:spPr>
          <a:xfrm>
            <a:off x="4673600" y="3454400"/>
            <a:ext cx="28448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1F2E"/>
                </a:solidFill>
                <a:latin typeface="Segoe UI"/>
                <a:cs typeface="Segoe UI"/>
              </a:rPr>
              <a:t>2.5× veća propusnost od REST-a (12.3k vs 4.9k RPS).
7.8× manji volumen podataka — ključno za rubne uređaje sa ograničenim opsegom (LoRaWAN, NB-IoT).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386915-5958-5440-B920-8A77AA1CC894}"/>
              </a:ext>
            </a:extLst>
          </p:cNvPr>
          <p:cNvSpPr/>
          <p:nvPr/>
        </p:nvSpPr>
        <p:spPr>
          <a:xfrm>
            <a:off x="8128000" y="1841500"/>
            <a:ext cx="3302000" cy="63500"/>
          </a:xfrm>
          <a:prstGeom prst="rect">
            <a:avLst/>
          </a:prstGeom>
          <a:solidFill>
            <a:srgbClr val="C44E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8A53F4-C092-0D4E-8759-76092190D5F1}"/>
              </a:ext>
            </a:extLst>
          </p:cNvPr>
          <p:cNvSpPr/>
          <p:nvPr/>
        </p:nvSpPr>
        <p:spPr>
          <a:xfrm>
            <a:off x="8128000" y="1905000"/>
            <a:ext cx="3302000" cy="3556000"/>
          </a:xfrm>
          <a:prstGeom prst="rect">
            <a:avLst/>
          </a:prstGeom>
          <a:solidFill>
            <a:srgbClr val="F8F9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8078DA-02AA-754F-82AD-D25E3C2BB97B}"/>
              </a:ext>
            </a:extLst>
          </p:cNvPr>
          <p:cNvSpPr txBox="1"/>
          <p:nvPr/>
        </p:nvSpPr>
        <p:spPr>
          <a:xfrm>
            <a:off x="8356600" y="2133600"/>
            <a:ext cx="279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C44E52"/>
                </a:solidFill>
                <a:latin typeface="Segoe UI Semibold"/>
                <a:cs typeface="Segoe UI Semibold"/>
              </a:rPr>
              <a:t>KOMPROMIS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7B8602-B33F-C645-BE22-B0C48A4FCAA7}"/>
              </a:ext>
            </a:extLst>
          </p:cNvPr>
          <p:cNvSpPr txBox="1"/>
          <p:nvPr/>
        </p:nvSpPr>
        <p:spPr>
          <a:xfrm>
            <a:off x="8356600" y="2387600"/>
            <a:ext cx="279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1F2E"/>
                </a:solidFill>
                <a:latin typeface="Segoe UI Semibold"/>
                <a:cs typeface="Segoe UI Semibold"/>
              </a:rPr>
              <a:t>GraphQL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701E43-207C-4B41-A49D-FDFED75F0030}"/>
              </a:ext>
            </a:extLst>
          </p:cNvPr>
          <p:cNvSpPr txBox="1"/>
          <p:nvPr/>
        </p:nvSpPr>
        <p:spPr>
          <a:xfrm>
            <a:off x="8356600" y="28956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B7C99"/>
                </a:solidFill>
                <a:latin typeface="Segoe UI"/>
                <a:cs typeface="Segoe UI"/>
              </a:rPr>
              <a:t>Browser klijenti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37E711-D209-2B47-A070-AC56136548B6}"/>
              </a:ext>
            </a:extLst>
          </p:cNvPr>
          <p:cNvSpPr/>
          <p:nvPr/>
        </p:nvSpPr>
        <p:spPr>
          <a:xfrm>
            <a:off x="8356600" y="3276600"/>
            <a:ext cx="508000" cy="25400"/>
          </a:xfrm>
          <a:prstGeom prst="rect">
            <a:avLst/>
          </a:prstGeom>
          <a:solidFill>
            <a:srgbClr val="C44E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24E920-1A28-064F-8E53-EC219B0D96BE}"/>
              </a:ext>
            </a:extLst>
          </p:cNvPr>
          <p:cNvSpPr txBox="1"/>
          <p:nvPr/>
        </p:nvSpPr>
        <p:spPr>
          <a:xfrm>
            <a:off x="8356600" y="3454400"/>
            <a:ext cx="28448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1F2E"/>
                </a:solidFill>
                <a:latin typeface="Segoe UI"/>
                <a:cs typeface="Segoe UI"/>
              </a:rPr>
              <a:t>Pogodan kada je gRPC infrastrukturno teško podržati.
Zadržava selektivni dohvat uz konvencionalni HTTP/JSON transport.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997116-F91F-2248-A25E-09BFCA60A4AF}"/>
              </a:ext>
            </a:extLst>
          </p:cNvPr>
          <p:cNvSpPr txBox="1"/>
          <p:nvPr/>
        </p:nvSpPr>
        <p:spPr>
          <a:xfrm>
            <a:off x="762000" y="5715000"/>
            <a:ext cx="10668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 dirty="0">
                <a:solidFill>
                  <a:srgbClr val="5B7C99"/>
                </a:solidFill>
                <a:latin typeface="Segoe UI"/>
                <a:cs typeface="Segoe UI"/>
              </a:rPr>
              <a:t>Scenario C (Heavy Aggregation): </a:t>
            </a:r>
            <a:r>
              <a:rPr lang="en-US" sz="1200" i="1" dirty="0" err="1">
                <a:solidFill>
                  <a:srgbClr val="5B7C99"/>
                </a:solidFill>
                <a:latin typeface="Segoe UI"/>
                <a:cs typeface="Segoe UI"/>
              </a:rPr>
              <a:t>sva</a:t>
            </a:r>
            <a:r>
              <a:rPr lang="en-US" sz="1200" i="1" dirty="0">
                <a:solidFill>
                  <a:srgbClr val="5B7C99"/>
                </a:solidFill>
                <a:latin typeface="Segoe UI"/>
                <a:cs typeface="Segoe UI"/>
              </a:rPr>
              <a:t> tri </a:t>
            </a:r>
            <a:r>
              <a:rPr lang="en-US" sz="1200" i="1" dirty="0" err="1">
                <a:solidFill>
                  <a:srgbClr val="5B7C99"/>
                </a:solidFill>
                <a:latin typeface="Segoe UI"/>
                <a:cs typeface="Segoe UI"/>
              </a:rPr>
              <a:t>protokola</a:t>
            </a:r>
            <a:r>
              <a:rPr lang="en-US" sz="1200" i="1" dirty="0">
                <a:solidFill>
                  <a:srgbClr val="5B7C99"/>
                </a:solidFill>
                <a:latin typeface="Segoe UI"/>
                <a:cs typeface="Segoe UI"/>
              </a:rPr>
              <a:t> </a:t>
            </a:r>
            <a:r>
              <a:rPr lang="en-US" sz="1200" i="1" dirty="0" err="1">
                <a:solidFill>
                  <a:srgbClr val="5B7C99"/>
                </a:solidFill>
                <a:latin typeface="Segoe UI"/>
                <a:cs typeface="Segoe UI"/>
              </a:rPr>
              <a:t>su</a:t>
            </a:r>
            <a:r>
              <a:rPr lang="en-US" sz="1200" i="1" dirty="0">
                <a:solidFill>
                  <a:srgbClr val="5B7C99"/>
                </a:solidFill>
                <a:latin typeface="Segoe UI"/>
                <a:cs typeface="Segoe UI"/>
              </a:rPr>
              <a:t> </a:t>
            </a:r>
            <a:r>
              <a:rPr lang="en-US" sz="1200" i="1" dirty="0" err="1">
                <a:solidFill>
                  <a:srgbClr val="5B7C99"/>
                </a:solidFill>
                <a:latin typeface="Segoe UI"/>
                <a:cs typeface="Segoe UI"/>
              </a:rPr>
              <a:t>pokazala</a:t>
            </a:r>
            <a:r>
              <a:rPr lang="en-US" sz="1200" i="1" dirty="0">
                <a:solidFill>
                  <a:srgbClr val="5B7C99"/>
                </a:solidFill>
                <a:latin typeface="Segoe UI"/>
                <a:cs typeface="Segoe UI"/>
              </a:rPr>
              <a:t> </a:t>
            </a:r>
            <a:r>
              <a:rPr lang="en-US" sz="1200" i="1" dirty="0" err="1">
                <a:solidFill>
                  <a:srgbClr val="5B7C99"/>
                </a:solidFill>
                <a:latin typeface="Segoe UI"/>
                <a:cs typeface="Segoe UI"/>
              </a:rPr>
              <a:t>zasićenje</a:t>
            </a:r>
            <a:r>
              <a:rPr lang="en-US" sz="1200" i="1" dirty="0">
                <a:solidFill>
                  <a:srgbClr val="5B7C99"/>
                </a:solidFill>
                <a:latin typeface="Segoe UI"/>
                <a:cs typeface="Segoe UI"/>
              </a:rPr>
              <a:t> </a:t>
            </a:r>
            <a:r>
              <a:rPr lang="en-US" sz="1200" i="1" dirty="0" err="1">
                <a:solidFill>
                  <a:srgbClr val="5B7C99"/>
                </a:solidFill>
                <a:latin typeface="Segoe UI"/>
                <a:cs typeface="Segoe UI"/>
              </a:rPr>
              <a:t>servera</a:t>
            </a:r>
            <a:r>
              <a:rPr lang="en-US" sz="1200" i="1" dirty="0">
                <a:solidFill>
                  <a:srgbClr val="5B7C99"/>
                </a:solidFill>
                <a:latin typeface="Segoe UI"/>
                <a:cs typeface="Segoe UI"/>
              </a:rPr>
              <a:t> (PostgreSQL ~1000% CPU) — </a:t>
            </a:r>
            <a:r>
              <a:rPr lang="en-US" sz="1200" i="1" dirty="0" err="1">
                <a:solidFill>
                  <a:srgbClr val="5B7C99"/>
                </a:solidFill>
                <a:latin typeface="Segoe UI"/>
                <a:cs typeface="Segoe UI"/>
              </a:rPr>
              <a:t>ograničenje</a:t>
            </a:r>
            <a:r>
              <a:rPr lang="en-US" sz="1200" i="1" dirty="0">
                <a:solidFill>
                  <a:srgbClr val="5B7C99"/>
                </a:solidFill>
                <a:latin typeface="Segoe UI"/>
                <a:cs typeface="Segoe UI"/>
              </a:rPr>
              <a:t> </a:t>
            </a:r>
            <a:r>
              <a:rPr lang="en-US" sz="1200" i="1" dirty="0" err="1">
                <a:solidFill>
                  <a:srgbClr val="5B7C99"/>
                </a:solidFill>
                <a:latin typeface="Segoe UI"/>
                <a:cs typeface="Segoe UI"/>
              </a:rPr>
              <a:t>nije</a:t>
            </a:r>
            <a:r>
              <a:rPr lang="en-US" sz="1200" i="1" dirty="0">
                <a:solidFill>
                  <a:srgbClr val="5B7C99"/>
                </a:solidFill>
                <a:latin typeface="Segoe UI"/>
                <a:cs typeface="Segoe UI"/>
              </a:rPr>
              <a:t> u </a:t>
            </a:r>
            <a:r>
              <a:rPr lang="en-US" sz="1200" i="1" dirty="0" err="1">
                <a:solidFill>
                  <a:srgbClr val="5B7C99"/>
                </a:solidFill>
                <a:latin typeface="Segoe UI"/>
                <a:cs typeface="Segoe UI"/>
              </a:rPr>
              <a:t>protokolu</a:t>
            </a:r>
            <a:r>
              <a:rPr lang="en-US" sz="1200" i="1" dirty="0">
                <a:solidFill>
                  <a:srgbClr val="5B7C99"/>
                </a:solidFill>
                <a:latin typeface="Segoe UI"/>
                <a:cs typeface="Segoe UI"/>
              </a:rPr>
              <a:t>, </a:t>
            </a:r>
            <a:r>
              <a:rPr lang="en-US" sz="1200" i="1" dirty="0" err="1">
                <a:solidFill>
                  <a:srgbClr val="5B7C99"/>
                </a:solidFill>
                <a:latin typeface="Segoe UI"/>
                <a:cs typeface="Segoe UI"/>
              </a:rPr>
              <a:t>već</a:t>
            </a:r>
            <a:r>
              <a:rPr lang="en-US" sz="1200" i="1" dirty="0">
                <a:solidFill>
                  <a:srgbClr val="5B7C99"/>
                </a:solidFill>
                <a:latin typeface="Segoe UI"/>
                <a:cs typeface="Segoe UI"/>
              </a:rPr>
              <a:t> u </a:t>
            </a:r>
            <a:r>
              <a:rPr lang="en-US" sz="1200" i="1" dirty="0" err="1">
                <a:solidFill>
                  <a:srgbClr val="5B7C99"/>
                </a:solidFill>
                <a:latin typeface="Segoe UI"/>
                <a:cs typeface="Segoe UI"/>
              </a:rPr>
              <a:t>serverskom</a:t>
            </a:r>
            <a:r>
              <a:rPr lang="en-US" sz="1200" i="1" dirty="0">
                <a:solidFill>
                  <a:srgbClr val="5B7C99"/>
                </a:solidFill>
                <a:latin typeface="Segoe UI"/>
                <a:cs typeface="Segoe UI"/>
              </a:rPr>
              <a:t> </a:t>
            </a:r>
            <a:r>
              <a:rPr lang="en-US" sz="1200" i="1" dirty="0" err="1">
                <a:solidFill>
                  <a:srgbClr val="5B7C99"/>
                </a:solidFill>
                <a:latin typeface="Segoe UI"/>
                <a:cs typeface="Segoe UI"/>
              </a:rPr>
              <a:t>sloju</a:t>
            </a:r>
            <a:r>
              <a:rPr lang="en-US" sz="1200" i="1" dirty="0">
                <a:solidFill>
                  <a:srgbClr val="5B7C99"/>
                </a:solidFill>
                <a:latin typeface="Segoe UI"/>
                <a:cs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1292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9051462708]">
  <a:themeElements>
    <a:clrScheme name="Office">
      <a:dk1>
        <a:srgbClr val="1A1F2E"/>
      </a:dk1>
      <a:lt1>
        <a:srgbClr val="FFFFFF"/>
      </a:lt1>
      <a:dk2>
        <a:srgbClr val="2C3E50"/>
      </a:dk2>
      <a:lt2>
        <a:srgbClr val="F4F6F9"/>
      </a:lt2>
      <a:accent1>
        <a:srgbClr val="1F4E79"/>
      </a:accent1>
      <a:accent2>
        <a:srgbClr val="2E8B57"/>
      </a:accent2>
      <a:accent3>
        <a:srgbClr val="C44E52"/>
      </a:accent3>
      <a:accent4>
        <a:srgbClr val="E08E45"/>
      </a:accent4>
      <a:accent5>
        <a:srgbClr val="5B7C99"/>
      </a:accent5>
      <a:accent6>
        <a:srgbClr val="7A8B99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634F04D-0E5B-724C-9CBC-5CFA96B2152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92a9cf1-ca82-472f-b5b9-a86b4e2713d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760</Words>
  <Application>Microsoft Macintosh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Segoe UI</vt:lpstr>
      <vt:lpstr>Segoe UI Semibold</vt:lpstr>
      <vt:lpstr>Office Theme [1779051462708]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 Stankovic</dc:creator>
  <cp:lastModifiedBy>Aleksa Stankovic</cp:lastModifiedBy>
  <cp:revision>5</cp:revision>
  <dcterms:created xsi:type="dcterms:W3CDTF">2026-05-17T20:54:48Z</dcterms:created>
  <dcterms:modified xsi:type="dcterms:W3CDTF">2026-05-18T13:22:38Z</dcterms:modified>
</cp:coreProperties>
</file>